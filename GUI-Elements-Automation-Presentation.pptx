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13" r:id="rId1"/>
  </p:sldMasterIdLst>
  <p:notesMasterIdLst>
    <p:notesMasterId r:id="rId24"/>
  </p:notesMasterIdLst>
  <p:sldIdLst>
    <p:sldId id="256" r:id="rId2"/>
    <p:sldId id="257" r:id="rId3"/>
    <p:sldId id="258" r:id="rId4"/>
    <p:sldId id="259" r:id="rId5"/>
    <p:sldId id="260" r:id="rId6"/>
    <p:sldId id="277" r:id="rId7"/>
    <p:sldId id="270" r:id="rId8"/>
    <p:sldId id="261" r:id="rId9"/>
    <p:sldId id="262" r:id="rId10"/>
    <p:sldId id="263" r:id="rId11"/>
    <p:sldId id="264" r:id="rId12"/>
    <p:sldId id="265" r:id="rId13"/>
    <p:sldId id="276" r:id="rId14"/>
    <p:sldId id="273" r:id="rId15"/>
    <p:sldId id="271" r:id="rId16"/>
    <p:sldId id="272" r:id="rId17"/>
    <p:sldId id="274" r:id="rId18"/>
    <p:sldId id="275" r:id="rId19"/>
    <p:sldId id="266" r:id="rId20"/>
    <p:sldId id="267" r:id="rId21"/>
    <p:sldId id="268" r:id="rId22"/>
    <p:sldId id="26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24" autoAdjust="0"/>
    <p:restoredTop sz="94660"/>
  </p:normalViewPr>
  <p:slideViewPr>
    <p:cSldViewPr snapToGrid="0">
      <p:cViewPr varScale="1">
        <p:scale>
          <a:sx n="72" d="100"/>
          <a:sy n="72" d="100"/>
        </p:scale>
        <p:origin x="60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60E4E-FAD7-46D7-994D-0C13429F074B}" type="datetimeFigureOut">
              <a:rPr lang="en-IN" smtClean="0"/>
              <a:t>15-06-2026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909FF-E46D-45D3-AD46-CFD23FAEBCA0}" type="slidenum">
              <a:rPr lang="en-IN" smtClean="0"/>
              <a:t>‹#›</a:t>
            </a:fld>
            <a:endParaRPr lang="en-IN"/>
          </a:p>
        </p:txBody>
      </p:sp>
    </p:spTree>
    <p:extLst>
      <p:ext uri="{BB962C8B-B14F-4D97-AF65-F5344CB8AC3E}">
        <p14:creationId xmlns:p14="http://schemas.microsoft.com/office/powerpoint/2010/main" val="220487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56004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69696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90557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6/15/2026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98418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6/15/2026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2000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39941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64160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04613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7794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3716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39793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5494958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91569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383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0766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04452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60001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6/15/2026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770703983"/>
      </p:ext>
    </p:extLst>
  </p:cSld>
  <p:clrMap bg1="dk1" tx1="lt1" bg2="dk2" tx2="lt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 id="2147484025" r:id="rId12"/>
    <p:sldLayoutId id="2147484026" r:id="rId13"/>
    <p:sldLayoutId id="2147484027" r:id="rId14"/>
    <p:sldLayoutId id="2147484028" r:id="rId15"/>
    <p:sldLayoutId id="2147484029" r:id="rId16"/>
    <p:sldLayoutId id="2147484030"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9268" y="1355034"/>
            <a:ext cx="8825658" cy="3329581"/>
          </a:xfrm>
        </p:spPr>
        <p:txBody>
          <a:bodyPr/>
          <a:lstStyle/>
          <a:p>
            <a:r>
              <a:rPr lang="en-US" sz="900" dirty="0" smtClean="0"/>
              <a:t> </a:t>
            </a:r>
            <a:endParaRPr lang="en-IN" sz="900" dirty="0"/>
          </a:p>
        </p:txBody>
      </p:sp>
      <p:sp>
        <p:nvSpPr>
          <p:cNvPr id="3" name="Subtitle 2"/>
          <p:cNvSpPr>
            <a:spLocks noGrp="1"/>
          </p:cNvSpPr>
          <p:nvPr>
            <p:ph type="subTitle" idx="1"/>
          </p:nvPr>
        </p:nvSpPr>
        <p:spPr>
          <a:xfrm>
            <a:off x="2557669" y="1559111"/>
            <a:ext cx="6836106" cy="1358377"/>
          </a:xfrm>
        </p:spPr>
        <p:txBody>
          <a:bodyPr>
            <a:normAutofit/>
          </a:bodyPr>
          <a:lstStyle/>
          <a:p>
            <a:r>
              <a:rPr lang="en-US" sz="3500" b="1" dirty="0">
                <a:solidFill>
                  <a:srgbClr val="002060"/>
                </a:solidFill>
              </a:rPr>
              <a:t>GUI Elements Automation Using Selenium WebDriver</a:t>
            </a:r>
            <a:endParaRPr lang="en-IN" sz="3500" b="1" dirty="0">
              <a:solidFill>
                <a:srgbClr val="002060"/>
              </a:solidFill>
            </a:endParaRPr>
          </a:p>
        </p:txBody>
      </p:sp>
      <p:sp>
        <p:nvSpPr>
          <p:cNvPr id="4" name="TextBox 3"/>
          <p:cNvSpPr txBox="1"/>
          <p:nvPr/>
        </p:nvSpPr>
        <p:spPr>
          <a:xfrm>
            <a:off x="2995854" y="2717433"/>
            <a:ext cx="6930887" cy="400110"/>
          </a:xfrm>
          <a:prstGeom prst="rect">
            <a:avLst/>
          </a:prstGeom>
          <a:noFill/>
        </p:spPr>
        <p:txBody>
          <a:bodyPr wrap="square" rtlCol="0">
            <a:spAutoFit/>
          </a:bodyPr>
          <a:lstStyle/>
          <a:p>
            <a:r>
              <a:rPr lang="en-IN" sz="2000" dirty="0" smtClean="0">
                <a:solidFill>
                  <a:srgbClr val="002060"/>
                </a:solidFill>
                <a:latin typeface="Times New Roman" panose="02020603050405020304" pitchFamily="18" charset="0"/>
                <a:cs typeface="Times New Roman" panose="02020603050405020304" pitchFamily="18" charset="0"/>
              </a:rPr>
              <a:t>(https</a:t>
            </a:r>
            <a:r>
              <a:rPr lang="en-IN" sz="2000" dirty="0">
                <a:solidFill>
                  <a:srgbClr val="002060"/>
                </a:solidFill>
                <a:latin typeface="Times New Roman" panose="02020603050405020304" pitchFamily="18" charset="0"/>
                <a:cs typeface="Times New Roman" panose="02020603050405020304" pitchFamily="18" charset="0"/>
              </a:rPr>
              <a:t>://testautomationpractice.blogspot.com</a:t>
            </a:r>
            <a:r>
              <a:rPr lang="en-IN" sz="2000" dirty="0" smtClean="0">
                <a:solidFill>
                  <a:srgbClr val="002060"/>
                </a:solidFill>
                <a:latin typeface="Times New Roman" panose="02020603050405020304" pitchFamily="18" charset="0"/>
                <a:cs typeface="Times New Roman" panose="02020603050405020304" pitchFamily="18" charset="0"/>
              </a:rPr>
              <a:t>/)</a:t>
            </a:r>
            <a:endParaRPr lang="en-IN"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864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789" y="1510745"/>
            <a:ext cx="11940211" cy="4116512"/>
          </a:xfrm>
          <a:prstGeom prst="rect">
            <a:avLst/>
          </a:prstGeom>
          <a:noFill/>
        </p:spPr>
        <p:txBody>
          <a:bodyPr wrap="square" rtlCol="0">
            <a:spAutoFit/>
          </a:bodyPr>
          <a:lstStyle/>
          <a:p>
            <a:pPr>
              <a:lnSpc>
                <a:spcPct val="150000"/>
              </a:lnSpc>
            </a:pPr>
            <a:r>
              <a:rPr lang="en-US" sz="2400" b="1" dirty="0" smtClean="0"/>
              <a:t>Name : Yatish Kumar</a:t>
            </a:r>
          </a:p>
          <a:p>
            <a:pPr>
              <a:lnSpc>
                <a:spcPct val="150000"/>
              </a:lnSpc>
            </a:pPr>
            <a:r>
              <a:rPr lang="en-IN" sz="2400" b="1" dirty="0" smtClean="0"/>
              <a:t>Trainer Name :</a:t>
            </a:r>
            <a:r>
              <a:rPr lang="en-IN" sz="2400" dirty="0" smtClean="0"/>
              <a:t> </a:t>
            </a:r>
            <a:r>
              <a:rPr lang="en-IN" sz="2400" b="1" dirty="0" smtClean="0"/>
              <a:t>Navin CK</a:t>
            </a:r>
          </a:p>
          <a:p>
            <a:pPr>
              <a:lnSpc>
                <a:spcPct val="150000"/>
              </a:lnSpc>
            </a:pPr>
            <a:r>
              <a:rPr lang="en-US" sz="2400" b="1" dirty="0" smtClean="0"/>
              <a:t>Training Program : </a:t>
            </a:r>
            <a:r>
              <a:rPr lang="en-US" sz="2400" b="1" dirty="0" smtClean="0">
                <a:latin typeface="+mj-lt"/>
              </a:rPr>
              <a:t>SDET(</a:t>
            </a:r>
            <a:r>
              <a:rPr lang="en-US" sz="2500" b="1" dirty="0" smtClean="0">
                <a:latin typeface="+mj-lt"/>
                <a:cs typeface="Times New Roman" panose="02020603050405020304" pitchFamily="18" charset="0"/>
              </a:rPr>
              <a:t>Software Development Engineer in Test)</a:t>
            </a:r>
          </a:p>
          <a:p>
            <a:pPr>
              <a:lnSpc>
                <a:spcPct val="150000"/>
              </a:lnSpc>
            </a:pPr>
            <a:r>
              <a:rPr lang="en-US" sz="2400" b="1" dirty="0" smtClean="0">
                <a:latin typeface="+mj-lt"/>
                <a:cs typeface="Times New Roman" panose="02020603050405020304" pitchFamily="18" charset="0"/>
              </a:rPr>
              <a:t>Organization : Wipro Limited</a:t>
            </a:r>
            <a:endParaRPr lang="en-IN" sz="2400" b="1" dirty="0" smtClean="0">
              <a:latin typeface="+mj-lt"/>
              <a:cs typeface="Times New Roman" panose="02020603050405020304" pitchFamily="18" charset="0"/>
            </a:endParaRPr>
          </a:p>
          <a:p>
            <a:pPr>
              <a:lnSpc>
                <a:spcPct val="150000"/>
              </a:lnSpc>
            </a:pPr>
            <a:r>
              <a:rPr lang="en-US" sz="2400" b="1" dirty="0" smtClean="0"/>
              <a:t>Project Type : Capstone Project</a:t>
            </a:r>
          </a:p>
          <a:p>
            <a:pPr>
              <a:lnSpc>
                <a:spcPct val="150000"/>
              </a:lnSpc>
            </a:pPr>
            <a:r>
              <a:rPr lang="en-IN" sz="2400" b="1" dirty="0" smtClean="0"/>
              <a:t>Technology/ Tools :</a:t>
            </a:r>
            <a:r>
              <a:rPr lang="en-IN" sz="2400" dirty="0" smtClean="0"/>
              <a:t> </a:t>
            </a:r>
            <a:r>
              <a:rPr lang="en-IN" sz="2400" b="1" dirty="0"/>
              <a:t>Selenium WebDriver, Java, TestNG, Maven, POM</a:t>
            </a:r>
            <a:endParaRPr lang="en-US" sz="2400" b="1" dirty="0"/>
          </a:p>
          <a:p>
            <a:r>
              <a:rPr lang="en-US" sz="1600" b="1" dirty="0" smtClean="0"/>
              <a:t>  </a:t>
            </a:r>
            <a:endParaRPr lang="en-IN" sz="1600" b="1" dirty="0"/>
          </a:p>
          <a:p>
            <a:r>
              <a:rPr lang="en-US" sz="2000" b="1" dirty="0" smtClean="0"/>
              <a:t> </a:t>
            </a:r>
            <a:endParaRPr lang="en-US" sz="2000" b="1" dirty="0"/>
          </a:p>
        </p:txBody>
      </p:sp>
    </p:spTree>
    <p:extLst>
      <p:ext uri="{BB962C8B-B14F-4D97-AF65-F5344CB8AC3E}">
        <p14:creationId xmlns:p14="http://schemas.microsoft.com/office/powerpoint/2010/main" val="27858023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338" y="346700"/>
            <a:ext cx="9404723" cy="1400530"/>
          </a:xfrm>
        </p:spPr>
        <p:txBody>
          <a:bodyPr/>
          <a:lstStyle/>
          <a:p>
            <a:r>
              <a:rPr lang="en-IN" b="1" dirty="0" smtClean="0">
                <a:solidFill>
                  <a:schemeClr val="bg1"/>
                </a:solidFill>
              </a:rPr>
              <a:t>                      Introduction</a:t>
            </a:r>
            <a:endParaRPr lang="en-IN" b="1" dirty="0">
              <a:solidFill>
                <a:schemeClr val="bg1"/>
              </a:solidFill>
            </a:endParaRPr>
          </a:p>
        </p:txBody>
      </p:sp>
      <p:sp>
        <p:nvSpPr>
          <p:cNvPr id="3" name="Content Placeholder 2"/>
          <p:cNvSpPr>
            <a:spLocks noGrp="1"/>
          </p:cNvSpPr>
          <p:nvPr>
            <p:ph idx="1"/>
          </p:nvPr>
        </p:nvSpPr>
        <p:spPr>
          <a:xfrm>
            <a:off x="997295" y="1747230"/>
            <a:ext cx="8946541" cy="4347882"/>
          </a:xfrm>
        </p:spPr>
        <p:txBody>
          <a:bodyPr>
            <a:normAutofit/>
          </a:bodyPr>
          <a:lstStyle/>
          <a:p>
            <a:r>
              <a:rPr lang="en-US" sz="2500" dirty="0"/>
              <a:t>Automation testing is the process of using software tools to execute test cases automatically. Selenium WebDriver is one of the most popular automation tools used for web application testing</a:t>
            </a:r>
            <a:r>
              <a:rPr lang="en-US" sz="2500" dirty="0" smtClean="0"/>
              <a:t>.</a:t>
            </a:r>
            <a:endParaRPr lang="en-US" sz="2500" dirty="0"/>
          </a:p>
          <a:p>
            <a:r>
              <a:rPr lang="en-US" sz="2500" dirty="0"/>
              <a:t>This project automates various GUI elements available on the Test Automation Practice website </a:t>
            </a:r>
            <a:r>
              <a:rPr lang="en-US" sz="2500" dirty="0" smtClean="0"/>
              <a:t>and validates </a:t>
            </a:r>
            <a:r>
              <a:rPr lang="en-US" sz="2500" dirty="0"/>
              <a:t>their functionality.</a:t>
            </a:r>
          </a:p>
        </p:txBody>
      </p:sp>
    </p:spTree>
    <p:extLst>
      <p:ext uri="{BB962C8B-B14F-4D97-AF65-F5344CB8AC3E}">
        <p14:creationId xmlns:p14="http://schemas.microsoft.com/office/powerpoint/2010/main" val="34088147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3381" y="0"/>
            <a:ext cx="9404723" cy="1400530"/>
          </a:xfrm>
        </p:spPr>
        <p:txBody>
          <a:bodyPr/>
          <a:lstStyle/>
          <a:p>
            <a:r>
              <a:rPr lang="en-US" b="1" dirty="0" smtClean="0">
                <a:solidFill>
                  <a:schemeClr val="bg1"/>
                </a:solidFill>
              </a:rPr>
              <a:t>Objective</a:t>
            </a:r>
            <a:endParaRPr lang="en-IN" b="1" dirty="0">
              <a:solidFill>
                <a:schemeClr val="bg1"/>
              </a:solidFill>
            </a:endParaRPr>
          </a:p>
        </p:txBody>
      </p:sp>
      <p:sp>
        <p:nvSpPr>
          <p:cNvPr id="4" name="Rectangle 1"/>
          <p:cNvSpPr>
            <a:spLocks noGrp="1" noChangeArrowheads="1"/>
          </p:cNvSpPr>
          <p:nvPr>
            <p:ph idx="1"/>
          </p:nvPr>
        </p:nvSpPr>
        <p:spPr bwMode="auto">
          <a:xfrm>
            <a:off x="132522" y="462018"/>
            <a:ext cx="11163634" cy="6395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300" b="0" i="0" u="none" strike="noStrike" cap="none" normalizeH="0" baseline="0" dirty="0" smtClean="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Automate data entry into text fields (Name, Email, Phone, Address).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Automate selection of radio buttons and checkboxes.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Automate dropdown selections (Country, Colors, Sorted List).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Handle and validate date picker controls.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Automate file upload functionality.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Handle Simple Alert, Confirmation Alert, and Prompt Alert pop-ups.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Perform advanced user interactions such as Mouse Hover, Double Click,</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300" b="0" i="0" u="none" strike="noStrike" cap="none" normalizeH="0" baseline="0" dirty="0" smtClean="0">
                <a:ln>
                  <a:noFill/>
                </a:ln>
                <a:solidFill>
                  <a:schemeClr val="tx1"/>
                </a:solidFill>
                <a:effectLst/>
              </a:rPr>
              <a:t>     and Drop, and Slider movement.</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Verify that all actions are executed successfully using assertions.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Implement a maintainable framework using Page Object Model (POM).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Execute test cases using TestNG and manage dependencies with Maven. </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smtClean="0">
                <a:ln>
                  <a:noFill/>
                </a:ln>
                <a:solidFill>
                  <a:schemeClr val="tx1"/>
                </a:solidFill>
                <a:effectLst/>
              </a:rPr>
              <a:t>Capture screenshots for test evidence and reporting. </a:t>
            </a:r>
          </a:p>
        </p:txBody>
      </p:sp>
    </p:spTree>
    <p:extLst>
      <p:ext uri="{BB962C8B-B14F-4D97-AF65-F5344CB8AC3E}">
        <p14:creationId xmlns:p14="http://schemas.microsoft.com/office/powerpoint/2010/main" val="34210077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7520" y="119269"/>
            <a:ext cx="9404723" cy="1400530"/>
          </a:xfrm>
        </p:spPr>
        <p:txBody>
          <a:bodyPr/>
          <a:lstStyle/>
          <a:p>
            <a:r>
              <a:rPr lang="en-IN" b="1" dirty="0" smtClean="0">
                <a:solidFill>
                  <a:schemeClr val="bg1"/>
                </a:solidFill>
              </a:rPr>
              <a:t>Tools &amp; Technologies</a:t>
            </a:r>
            <a:endParaRPr lang="en-IN" b="1" dirty="0">
              <a:solidFill>
                <a:schemeClr val="bg1"/>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64826022"/>
              </p:ext>
            </p:extLst>
          </p:nvPr>
        </p:nvGraphicFramePr>
        <p:xfrm>
          <a:off x="0" y="1058073"/>
          <a:ext cx="12324522" cy="5730240"/>
        </p:xfrm>
        <a:graphic>
          <a:graphicData uri="http://schemas.openxmlformats.org/drawingml/2006/table">
            <a:tbl>
              <a:tblPr/>
              <a:tblGrid>
                <a:gridCol w="12324522">
                  <a:extLst>
                    <a:ext uri="{9D8B030D-6E8A-4147-A177-3AD203B41FA5}">
                      <a16:colId xmlns:a16="http://schemas.microsoft.com/office/drawing/2014/main" val="876460807"/>
                    </a:ext>
                  </a:extLst>
                </a:gridCol>
              </a:tblGrid>
              <a:tr h="5369231">
                <a:tc>
                  <a:txBody>
                    <a:bodyPr/>
                    <a:lstStyle/>
                    <a:p>
                      <a:r>
                        <a:rPr lang="en-IN" sz="2000" b="1" dirty="0">
                          <a:solidFill>
                            <a:schemeClr val="bg1"/>
                          </a:solidFill>
                        </a:rPr>
                        <a:t>Tool / </a:t>
                      </a:r>
                      <a:r>
                        <a:rPr lang="en-IN" sz="2000" b="1" dirty="0" smtClean="0">
                          <a:solidFill>
                            <a:schemeClr val="bg1"/>
                          </a:solidFill>
                        </a:rPr>
                        <a:t>Technology                                                    Purpose</a:t>
                      </a:r>
                    </a:p>
                    <a:p>
                      <a:endParaRPr lang="en-US" sz="2000" dirty="0" smtClean="0"/>
                    </a:p>
                    <a:p>
                      <a:pPr>
                        <a:lnSpc>
                          <a:spcPct val="150000"/>
                        </a:lnSpc>
                      </a:pPr>
                      <a:r>
                        <a:rPr lang="en-IN" sz="2000" dirty="0" smtClean="0"/>
                        <a:t>Java                              </a:t>
                      </a:r>
                      <a:r>
                        <a:rPr lang="en-IN" sz="2000" dirty="0" smtClean="0"/>
                        <a:t>           </a:t>
                      </a:r>
                      <a:r>
                        <a:rPr lang="en-US" sz="2000" dirty="0" smtClean="0"/>
                        <a:t>Programming language used to develop the automation scripts.</a:t>
                      </a:r>
                      <a:endParaRPr lang="en-IN" sz="2000" dirty="0" smtClean="0"/>
                    </a:p>
                    <a:p>
                      <a:pPr>
                        <a:lnSpc>
                          <a:spcPct val="150000"/>
                        </a:lnSpc>
                      </a:pPr>
                      <a:r>
                        <a:rPr lang="en-IN" sz="2000" dirty="0" smtClean="0"/>
                        <a:t>Selenium WebDriver      </a:t>
                      </a:r>
                      <a:r>
                        <a:rPr lang="en-IN" sz="2000" dirty="0" smtClean="0"/>
                        <a:t>        </a:t>
                      </a:r>
                      <a:r>
                        <a:rPr lang="en-US" sz="2000" dirty="0" smtClean="0"/>
                        <a:t>Automates browser interactions and web element operations.</a:t>
                      </a:r>
                    </a:p>
                    <a:p>
                      <a:pPr>
                        <a:lnSpc>
                          <a:spcPct val="150000"/>
                        </a:lnSpc>
                      </a:pPr>
                      <a:r>
                        <a:rPr lang="en-IN" sz="2000" dirty="0" err="1" smtClean="0"/>
                        <a:t>TestNG</a:t>
                      </a:r>
                      <a:r>
                        <a:rPr lang="en-IN" sz="2000" dirty="0" smtClean="0"/>
                        <a:t>                            </a:t>
                      </a:r>
                      <a:r>
                        <a:rPr lang="en-IN" sz="2000" dirty="0" smtClean="0"/>
                        <a:t>         </a:t>
                      </a:r>
                      <a:r>
                        <a:rPr lang="en-US" sz="2000" dirty="0" smtClean="0"/>
                        <a:t>Testing framework used for test execution, assertions, and reporting</a:t>
                      </a:r>
                      <a:endParaRPr lang="en-IN" sz="2000" dirty="0" smtClean="0"/>
                    </a:p>
                    <a:p>
                      <a:pPr>
                        <a:lnSpc>
                          <a:spcPct val="150000"/>
                        </a:lnSpc>
                      </a:pPr>
                      <a:r>
                        <a:rPr lang="en-IN" sz="2000" dirty="0" smtClean="0"/>
                        <a:t>Maven                          </a:t>
                      </a:r>
                      <a:r>
                        <a:rPr lang="en-IN" sz="2000" dirty="0" smtClean="0"/>
                        <a:t>           </a:t>
                      </a:r>
                      <a:r>
                        <a:rPr lang="en-US" sz="2000" dirty="0" smtClean="0"/>
                        <a:t>Build automation and dependency management tool.</a:t>
                      </a:r>
                    </a:p>
                    <a:p>
                      <a:pPr>
                        <a:lnSpc>
                          <a:spcPct val="150000"/>
                        </a:lnSpc>
                      </a:pPr>
                      <a:r>
                        <a:rPr lang="en-IN" sz="2000" dirty="0" smtClean="0"/>
                        <a:t>Page Object Model (POM)  </a:t>
                      </a:r>
                      <a:r>
                        <a:rPr lang="en-US" sz="2000" dirty="0" smtClean="0"/>
                        <a:t>Design pattern used to improve code reusability and maintainability.</a:t>
                      </a:r>
                    </a:p>
                    <a:p>
                      <a:pPr>
                        <a:lnSpc>
                          <a:spcPct val="150000"/>
                        </a:lnSpc>
                      </a:pPr>
                      <a:r>
                        <a:rPr lang="en-IN" sz="2000" dirty="0" smtClean="0"/>
                        <a:t>Eclipse IDE                               </a:t>
                      </a:r>
                      <a:r>
                        <a:rPr lang="en-US" sz="2000" dirty="0" smtClean="0"/>
                        <a:t>Integrated Development Environment used for coding and execution.</a:t>
                      </a:r>
                    </a:p>
                    <a:p>
                      <a:pPr>
                        <a:lnSpc>
                          <a:spcPct val="150000"/>
                        </a:lnSpc>
                      </a:pPr>
                      <a:r>
                        <a:rPr lang="en-IN" sz="2000" dirty="0" smtClean="0"/>
                        <a:t>Google Chrome                     </a:t>
                      </a:r>
                      <a:r>
                        <a:rPr lang="en-US" sz="2000" dirty="0" smtClean="0"/>
                        <a:t>Browser used for test execution.</a:t>
                      </a:r>
                    </a:p>
                    <a:p>
                      <a:pPr>
                        <a:lnSpc>
                          <a:spcPct val="150000"/>
                        </a:lnSpc>
                      </a:pPr>
                      <a:r>
                        <a:rPr lang="en-IN" sz="2000" dirty="0" smtClean="0"/>
                        <a:t>ChromeDriver                          </a:t>
                      </a:r>
                      <a:r>
                        <a:rPr lang="en-US" sz="2000" dirty="0" smtClean="0"/>
                        <a:t>WebDriver implementation used to control the Chrome browser.</a:t>
                      </a:r>
                    </a:p>
                    <a:p>
                      <a:pPr>
                        <a:lnSpc>
                          <a:spcPct val="150000"/>
                        </a:lnSpc>
                      </a:pPr>
                      <a:r>
                        <a:rPr lang="en-IN" sz="2000" dirty="0" smtClean="0"/>
                        <a:t>GitHub                                      </a:t>
                      </a:r>
                      <a:r>
                        <a:rPr lang="en-US" sz="2000" dirty="0" smtClean="0"/>
                        <a:t>Repository hosting platform used for code storage and collaboration.</a:t>
                      </a:r>
                    </a:p>
                    <a:p>
                      <a:pPr>
                        <a:lnSpc>
                          <a:spcPct val="150000"/>
                        </a:lnSpc>
                      </a:pPr>
                      <a:r>
                        <a:rPr lang="en-IN" sz="2000" dirty="0" smtClean="0"/>
                        <a:t>Extent Reports                         Used</a:t>
                      </a:r>
                      <a:r>
                        <a:rPr lang="en-IN" sz="2000" baseline="0" dirty="0" smtClean="0"/>
                        <a:t> to </a:t>
                      </a:r>
                      <a:r>
                        <a:rPr lang="en-IN" sz="2000" dirty="0" smtClean="0"/>
                        <a:t> </a:t>
                      </a:r>
                      <a:r>
                        <a:rPr lang="en-US" sz="2000" dirty="0" smtClean="0"/>
                        <a:t>generate detailed HTML test execution reports.</a:t>
                      </a:r>
                    </a:p>
                    <a:p>
                      <a:pPr>
                        <a:lnSpc>
                          <a:spcPct val="150000"/>
                        </a:lnSpc>
                      </a:pPr>
                      <a:r>
                        <a:rPr lang="en-IN" sz="2000" dirty="0" smtClean="0"/>
                        <a:t>Apache Commons IO           </a:t>
                      </a:r>
                      <a:r>
                        <a:rPr lang="en-US" sz="2000" dirty="0" smtClean="0"/>
                        <a:t>Library used for screenshot capture and file handling operations.</a:t>
                      </a:r>
                      <a:endParaRPr lang="en-IN" sz="2000" dirty="0"/>
                    </a:p>
                  </a:txBody>
                  <a:tcPr anchor="ctr">
                    <a:lnL>
                      <a:noFill/>
                    </a:lnL>
                    <a:lnR>
                      <a:noFill/>
                    </a:lnR>
                    <a:lnT>
                      <a:noFill/>
                    </a:lnT>
                    <a:lnB>
                      <a:noFill/>
                    </a:lnB>
                  </a:tcPr>
                </a:tc>
                <a:extLst>
                  <a:ext uri="{0D108BD9-81ED-4DB2-BD59-A6C34878D82A}">
                    <a16:rowId xmlns:a16="http://schemas.microsoft.com/office/drawing/2014/main" val="1549012090"/>
                  </a:ext>
                </a:extLst>
              </a:tr>
            </a:tbl>
          </a:graphicData>
        </a:graphic>
      </p:graphicFrame>
    </p:spTree>
    <p:extLst>
      <p:ext uri="{BB962C8B-B14F-4D97-AF65-F5344CB8AC3E}">
        <p14:creationId xmlns:p14="http://schemas.microsoft.com/office/powerpoint/2010/main" val="40980333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76869" y="238539"/>
            <a:ext cx="5314122" cy="553998"/>
          </a:xfrm>
          <a:prstGeom prst="rect">
            <a:avLst/>
          </a:prstGeom>
          <a:noFill/>
        </p:spPr>
        <p:txBody>
          <a:bodyPr wrap="square" rtlCol="0">
            <a:spAutoFit/>
          </a:bodyPr>
          <a:lstStyle/>
          <a:p>
            <a:r>
              <a:rPr lang="en-IN" sz="3000" b="1" dirty="0">
                <a:solidFill>
                  <a:schemeClr val="bg1"/>
                </a:solidFill>
                <a:latin typeface="Times New Roman" panose="02020603050405020304" pitchFamily="18" charset="0"/>
                <a:cs typeface="Times New Roman" panose="02020603050405020304" pitchFamily="18" charset="0"/>
              </a:rPr>
              <a:t>Project Structure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585" y="1064204"/>
            <a:ext cx="10005390" cy="5793796"/>
          </a:xfrm>
          <a:prstGeom prst="rect">
            <a:avLst/>
          </a:prstGeom>
        </p:spPr>
      </p:pic>
    </p:spTree>
    <p:extLst>
      <p:ext uri="{BB962C8B-B14F-4D97-AF65-F5344CB8AC3E}">
        <p14:creationId xmlns:p14="http://schemas.microsoft.com/office/powerpoint/2010/main" val="15263376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86539" y="119270"/>
            <a:ext cx="6718852" cy="523220"/>
          </a:xfrm>
          <a:prstGeom prst="rect">
            <a:avLst/>
          </a:prstGeom>
          <a:noFill/>
        </p:spPr>
        <p:txBody>
          <a:bodyPr wrap="square" rtlCol="0">
            <a:spAutoFit/>
          </a:bodyPr>
          <a:lstStyle/>
          <a:p>
            <a:r>
              <a:rPr lang="en-IN" sz="2500" b="1" dirty="0">
                <a:solidFill>
                  <a:schemeClr val="bg1"/>
                </a:solidFill>
                <a:latin typeface="Times New Roman" panose="02020603050405020304" pitchFamily="18" charset="0"/>
                <a:cs typeface="Times New Roman" panose="02020603050405020304" pitchFamily="18" charset="0"/>
              </a:rPr>
              <a:t>TestNG </a:t>
            </a:r>
            <a:r>
              <a:rPr lang="en-IN" sz="2500" b="1" dirty="0" smtClean="0">
                <a:solidFill>
                  <a:schemeClr val="bg1"/>
                </a:solidFill>
                <a:latin typeface="Times New Roman" panose="02020603050405020304" pitchFamily="18" charset="0"/>
                <a:cs typeface="Times New Roman" panose="02020603050405020304" pitchFamily="18" charset="0"/>
              </a:rPr>
              <a:t>Annotations &amp; Assertions</a:t>
            </a:r>
            <a:r>
              <a:rPr lang="en-IN" sz="2800" dirty="0" smtClean="0"/>
              <a:t> </a:t>
            </a:r>
            <a:endParaRPr lang="en-IN" sz="2500" b="1" dirty="0">
              <a:solidFill>
                <a:schemeClr val="bg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98781" y="1391454"/>
            <a:ext cx="11820940" cy="1785104"/>
          </a:xfrm>
          <a:prstGeom prst="rect">
            <a:avLst/>
          </a:prstGeom>
          <a:noFill/>
        </p:spPr>
        <p:txBody>
          <a:bodyPr wrap="square" rtlCol="0">
            <a:spAutoFit/>
          </a:bodyPr>
          <a:lstStyle/>
          <a:p>
            <a:endParaRPr lang="en-US" sz="2000" dirty="0" smtClean="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@BeforeMethod</a:t>
            </a:r>
            <a:r>
              <a:rPr lang="en-US" sz="2000" dirty="0">
                <a:latin typeface="Times New Roman" panose="02020603050405020304" pitchFamily="18" charset="0"/>
                <a:cs typeface="Times New Roman" panose="02020603050405020304" pitchFamily="18" charset="0"/>
              </a:rPr>
              <a:t> – Executes before every test method (used for browser setup</a:t>
            </a:r>
            <a:r>
              <a:rPr lang="en-US" sz="2000" dirty="0" smtClean="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@Test</a:t>
            </a:r>
            <a:r>
              <a:rPr lang="en-US" sz="2000" dirty="0">
                <a:latin typeface="Times New Roman" panose="02020603050405020304" pitchFamily="18" charset="0"/>
                <a:cs typeface="Times New Roman" panose="02020603050405020304" pitchFamily="18" charset="0"/>
              </a:rPr>
              <a:t> – Marks a method as a test case</a:t>
            </a:r>
            <a:r>
              <a:rPr lang="en-US" sz="2000" dirty="0" smtClean="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@AfterMethod</a:t>
            </a:r>
            <a:r>
              <a:rPr lang="en-US" sz="2000" dirty="0">
                <a:latin typeface="Times New Roman" panose="02020603050405020304" pitchFamily="18" charset="0"/>
                <a:cs typeface="Times New Roman" panose="02020603050405020304" pitchFamily="18" charset="0"/>
              </a:rPr>
              <a:t> – Executes after every test method (used for browser closure</a:t>
            </a:r>
            <a:r>
              <a:rPr lang="en-US" sz="2000" dirty="0" smtClean="0">
                <a:latin typeface="Times New Roman" panose="02020603050405020304" pitchFamily="18" charset="0"/>
                <a:cs typeface="Times New Roman" panose="02020603050405020304" pitchFamily="18" charset="0"/>
              </a:rPr>
              <a:t>).</a:t>
            </a:r>
          </a:p>
        </p:txBody>
      </p:sp>
      <p:sp>
        <p:nvSpPr>
          <p:cNvPr id="6" name="TextBox 5"/>
          <p:cNvSpPr txBox="1"/>
          <p:nvPr/>
        </p:nvSpPr>
        <p:spPr>
          <a:xfrm>
            <a:off x="198782" y="991344"/>
            <a:ext cx="3657600"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Annotations Used:</a:t>
            </a:r>
            <a:endParaRPr lang="en-IN" sz="20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98781" y="3437210"/>
            <a:ext cx="4532243"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Assertions </a:t>
            </a:r>
            <a:r>
              <a:rPr lang="en-IN" sz="2000" b="1" dirty="0" smtClean="0">
                <a:latin typeface="Times New Roman" panose="02020603050405020304" pitchFamily="18" charset="0"/>
                <a:cs typeface="Times New Roman" panose="02020603050405020304" pitchFamily="18" charset="0"/>
              </a:rPr>
              <a:t>Used: </a:t>
            </a:r>
            <a:endParaRPr lang="en-IN" sz="20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98781" y="4251860"/>
            <a:ext cx="11304103" cy="1323439"/>
          </a:xfrm>
          <a:prstGeom prst="rect">
            <a:avLst/>
          </a:prstGeom>
          <a:noFill/>
        </p:spPr>
        <p:txBody>
          <a:bodyPr wrap="square" rtlCol="0">
            <a:spAutoFit/>
          </a:bodyPr>
          <a:lstStyle/>
          <a:p>
            <a:pPr marL="342900" indent="-342900">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Assert.assertEquals()- </a:t>
            </a:r>
            <a:r>
              <a:rPr lang="en-US" sz="2000" dirty="0" smtClean="0">
                <a:latin typeface="Times New Roman" panose="02020603050405020304" pitchFamily="18" charset="0"/>
                <a:cs typeface="Times New Roman" panose="02020603050405020304" pitchFamily="18" charset="0"/>
              </a:rPr>
              <a:t>Used to validate Name, Email, Phone, and Address fields.</a:t>
            </a:r>
          </a:p>
          <a:p>
            <a:pPr marL="342900" indent="-342900">
              <a:lnSpc>
                <a:spcPct val="150000"/>
              </a:lnSpc>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Assert.assertTrue()- </a:t>
            </a:r>
            <a:r>
              <a:rPr lang="en-US" sz="2000" dirty="0" smtClean="0">
                <a:latin typeface="Times New Roman" panose="02020603050405020304" pitchFamily="18" charset="0"/>
                <a:cs typeface="Times New Roman" panose="02020603050405020304" pitchFamily="18" charset="0"/>
              </a:rPr>
              <a:t>Used to verify Radio Button, Checkboxes, Dropdowns, Date Picker, File Upload, Alerts, Mouse Hover, Double Click, Drag and Drop, and Slider functionalities.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7366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2800" y="149083"/>
            <a:ext cx="8507896" cy="477054"/>
          </a:xfrm>
          <a:prstGeom prst="rect">
            <a:avLst/>
          </a:prstGeom>
          <a:noFill/>
        </p:spPr>
        <p:txBody>
          <a:bodyPr wrap="square" rtlCol="0">
            <a:spAutoFit/>
          </a:bodyPr>
          <a:lstStyle/>
          <a:p>
            <a:r>
              <a:rPr lang="en-IN" sz="2500" b="1" dirty="0">
                <a:solidFill>
                  <a:schemeClr val="bg1"/>
                </a:solidFill>
              </a:rPr>
              <a:t>Implementation – Text Fields</a:t>
            </a:r>
          </a:p>
        </p:txBody>
      </p:sp>
      <p:sp>
        <p:nvSpPr>
          <p:cNvPr id="3" name="TextBox 2"/>
          <p:cNvSpPr txBox="1"/>
          <p:nvPr/>
        </p:nvSpPr>
        <p:spPr>
          <a:xfrm>
            <a:off x="165652" y="1000421"/>
            <a:ext cx="5486400" cy="1615827"/>
          </a:xfrm>
          <a:prstGeom prst="rect">
            <a:avLst/>
          </a:prstGeom>
          <a:noFill/>
        </p:spPr>
        <p:txBody>
          <a:bodyPr wrap="square" rtlCol="0">
            <a:spAutoFit/>
          </a:bodyPr>
          <a:lstStyle/>
          <a:p>
            <a:r>
              <a:rPr lang="en-US" dirty="0"/>
              <a:t> </a:t>
            </a:r>
            <a:r>
              <a:rPr lang="en-US" dirty="0" smtClean="0"/>
              <a:t>Text Field</a:t>
            </a:r>
            <a:endParaRPr lang="en-US" dirty="0"/>
          </a:p>
          <a:p>
            <a:pPr marL="285750" indent="-285750">
              <a:lnSpc>
                <a:spcPct val="150000"/>
              </a:lnSpc>
              <a:buFont typeface="Wingdings" panose="05000000000000000000" pitchFamily="2" charset="2"/>
              <a:buChar char="Ø"/>
            </a:pPr>
            <a:r>
              <a:rPr lang="en-US" dirty="0"/>
              <a:t>Name</a:t>
            </a:r>
          </a:p>
          <a:p>
            <a:pPr marL="285750" indent="-285750">
              <a:buFont typeface="Wingdings" panose="05000000000000000000" pitchFamily="2" charset="2"/>
              <a:buChar char="Ø"/>
            </a:pPr>
            <a:r>
              <a:rPr lang="en-US" dirty="0"/>
              <a:t>Email</a:t>
            </a:r>
          </a:p>
          <a:p>
            <a:pPr marL="285750" indent="-285750">
              <a:buFont typeface="Wingdings" panose="05000000000000000000" pitchFamily="2" charset="2"/>
              <a:buChar char="Ø"/>
            </a:pPr>
            <a:r>
              <a:rPr lang="en-US" dirty="0" smtClean="0"/>
              <a:t>Phone Number</a:t>
            </a:r>
            <a:endParaRPr lang="en-US" dirty="0"/>
          </a:p>
          <a:p>
            <a:pPr marL="285750" indent="-285750">
              <a:buFont typeface="Wingdings" panose="05000000000000000000" pitchFamily="2" charset="2"/>
              <a:buChar char="Ø"/>
            </a:pPr>
            <a:r>
              <a:rPr lang="en-US" dirty="0" smtClean="0"/>
              <a:t>Address</a:t>
            </a:r>
            <a:endParaRPr lang="en-US" dirty="0"/>
          </a:p>
        </p:txBody>
      </p:sp>
      <p:sp>
        <p:nvSpPr>
          <p:cNvPr id="4" name="TextBox 3"/>
          <p:cNvSpPr txBox="1"/>
          <p:nvPr/>
        </p:nvSpPr>
        <p:spPr>
          <a:xfrm>
            <a:off x="165652" y="2755241"/>
            <a:ext cx="5022574" cy="1338828"/>
          </a:xfrm>
          <a:prstGeom prst="rect">
            <a:avLst/>
          </a:prstGeom>
          <a:noFill/>
        </p:spPr>
        <p:txBody>
          <a:bodyPr wrap="square" rtlCol="0">
            <a:spAutoFit/>
          </a:bodyPr>
          <a:lstStyle/>
          <a:p>
            <a:r>
              <a:rPr lang="en-IN" dirty="0" smtClean="0"/>
              <a:t> Implementation</a:t>
            </a:r>
            <a:endParaRPr lang="en-US" dirty="0"/>
          </a:p>
          <a:p>
            <a:pPr marL="285750" indent="-285750">
              <a:lnSpc>
                <a:spcPct val="150000"/>
              </a:lnSpc>
              <a:buFont typeface="Wingdings" panose="05000000000000000000" pitchFamily="2" charset="2"/>
              <a:buChar char="Ø"/>
            </a:pPr>
            <a:r>
              <a:rPr lang="en-US" dirty="0"/>
              <a:t>Used Selenium sendKeys() method </a:t>
            </a:r>
          </a:p>
          <a:p>
            <a:pPr marL="285750" indent="-285750">
              <a:buFont typeface="Wingdings" panose="05000000000000000000" pitchFamily="2" charset="2"/>
              <a:buChar char="Ø"/>
            </a:pPr>
            <a:r>
              <a:rPr lang="en-US" dirty="0"/>
              <a:t>Entered valid test data</a:t>
            </a:r>
          </a:p>
          <a:p>
            <a:endParaRPr lang="en-US" dirty="0" smtClean="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6882" y="1166190"/>
            <a:ext cx="7795117" cy="5691810"/>
          </a:xfrm>
          <a:prstGeom prst="rect">
            <a:avLst/>
          </a:prstGeom>
        </p:spPr>
      </p:pic>
    </p:spTree>
    <p:extLst>
      <p:ext uri="{BB962C8B-B14F-4D97-AF65-F5344CB8AC3E}">
        <p14:creationId xmlns:p14="http://schemas.microsoft.com/office/powerpoint/2010/main" val="27674351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96209" y="95176"/>
            <a:ext cx="6506818" cy="477054"/>
          </a:xfrm>
          <a:prstGeom prst="rect">
            <a:avLst/>
          </a:prstGeom>
          <a:noFill/>
        </p:spPr>
        <p:txBody>
          <a:bodyPr wrap="square" rtlCol="0">
            <a:spAutoFit/>
          </a:bodyPr>
          <a:lstStyle/>
          <a:p>
            <a:r>
              <a:rPr lang="en-IN" sz="2500" b="1" dirty="0">
                <a:solidFill>
                  <a:schemeClr val="bg1"/>
                </a:solidFill>
              </a:rPr>
              <a:t>Implementation – Selection Controls </a:t>
            </a:r>
          </a:p>
        </p:txBody>
      </p:sp>
      <p:sp>
        <p:nvSpPr>
          <p:cNvPr id="3" name="TextBox 2"/>
          <p:cNvSpPr txBox="1"/>
          <p:nvPr/>
        </p:nvSpPr>
        <p:spPr>
          <a:xfrm>
            <a:off x="92765" y="1113182"/>
            <a:ext cx="6149008" cy="1892826"/>
          </a:xfrm>
          <a:prstGeom prst="rect">
            <a:avLst/>
          </a:prstGeom>
          <a:noFill/>
        </p:spPr>
        <p:txBody>
          <a:bodyPr wrap="square" rtlCol="0">
            <a:spAutoFit/>
          </a:bodyPr>
          <a:lstStyle/>
          <a:p>
            <a:pPr>
              <a:lnSpc>
                <a:spcPct val="150000"/>
              </a:lnSpc>
            </a:pPr>
            <a:r>
              <a:rPr lang="en-US" dirty="0"/>
              <a:t> </a:t>
            </a:r>
            <a:r>
              <a:rPr lang="en-US" dirty="0" smtClean="0"/>
              <a:t> Selection Controls </a:t>
            </a:r>
            <a:endParaRPr lang="en-US" dirty="0"/>
          </a:p>
          <a:p>
            <a:pPr marL="285750" indent="-285750">
              <a:buFont typeface="Wingdings" panose="05000000000000000000" pitchFamily="2" charset="2"/>
              <a:buChar char="Ø"/>
            </a:pPr>
            <a:r>
              <a:rPr lang="en-US" dirty="0" smtClean="0"/>
              <a:t>Gender </a:t>
            </a:r>
            <a:r>
              <a:rPr lang="en-US" dirty="0"/>
              <a:t>Radio </a:t>
            </a:r>
            <a:r>
              <a:rPr lang="en-US" dirty="0" smtClean="0"/>
              <a:t>Button</a:t>
            </a:r>
          </a:p>
          <a:p>
            <a:pPr marL="285750" indent="-285750">
              <a:buFont typeface="Wingdings" panose="05000000000000000000" pitchFamily="2" charset="2"/>
              <a:buChar char="Ø"/>
            </a:pPr>
            <a:r>
              <a:rPr lang="en-US" dirty="0" smtClean="0"/>
              <a:t>Days </a:t>
            </a:r>
            <a:r>
              <a:rPr lang="en-US" dirty="0"/>
              <a:t>Checkboxes </a:t>
            </a:r>
            <a:endParaRPr lang="en-US" dirty="0" smtClean="0"/>
          </a:p>
          <a:p>
            <a:pPr marL="285750" indent="-285750">
              <a:buFont typeface="Wingdings" panose="05000000000000000000" pitchFamily="2" charset="2"/>
              <a:buChar char="Ø"/>
            </a:pPr>
            <a:r>
              <a:rPr lang="en-US" dirty="0" smtClean="0"/>
              <a:t>Country Dropdown</a:t>
            </a:r>
          </a:p>
          <a:p>
            <a:pPr marL="285750" indent="-285750">
              <a:buFont typeface="Wingdings" panose="05000000000000000000" pitchFamily="2" charset="2"/>
              <a:buChar char="Ø"/>
            </a:pPr>
            <a:r>
              <a:rPr lang="en-US" dirty="0" smtClean="0"/>
              <a:t>Colors </a:t>
            </a:r>
            <a:r>
              <a:rPr lang="en-US" dirty="0"/>
              <a:t>Dropdown </a:t>
            </a:r>
            <a:endParaRPr lang="en-US" dirty="0" smtClean="0"/>
          </a:p>
          <a:p>
            <a:pPr marL="285750" indent="-285750">
              <a:buFont typeface="Wingdings" panose="05000000000000000000" pitchFamily="2" charset="2"/>
              <a:buChar char="Ø"/>
            </a:pPr>
            <a:r>
              <a:rPr lang="en-US" dirty="0" smtClean="0"/>
              <a:t>Animals </a:t>
            </a:r>
            <a:r>
              <a:rPr lang="en-US" dirty="0"/>
              <a:t>Dropdown</a:t>
            </a:r>
            <a:endParaRPr lang="en-IN" dirty="0"/>
          </a:p>
        </p:txBody>
      </p:sp>
      <p:sp>
        <p:nvSpPr>
          <p:cNvPr id="4" name="TextBox 3"/>
          <p:cNvSpPr txBox="1"/>
          <p:nvPr/>
        </p:nvSpPr>
        <p:spPr>
          <a:xfrm>
            <a:off x="0" y="3180522"/>
            <a:ext cx="4399722" cy="1338828"/>
          </a:xfrm>
          <a:prstGeom prst="rect">
            <a:avLst/>
          </a:prstGeom>
          <a:noFill/>
        </p:spPr>
        <p:txBody>
          <a:bodyPr wrap="square" rtlCol="0">
            <a:spAutoFit/>
          </a:bodyPr>
          <a:lstStyle/>
          <a:p>
            <a:r>
              <a:rPr lang="en-IN" dirty="0" smtClean="0"/>
              <a:t>   Implementation</a:t>
            </a:r>
          </a:p>
          <a:p>
            <a:pPr marL="285750" indent="-285750">
              <a:lnSpc>
                <a:spcPct val="150000"/>
              </a:lnSpc>
              <a:buFont typeface="Wingdings" panose="05000000000000000000" pitchFamily="2" charset="2"/>
              <a:buChar char="Ø"/>
            </a:pPr>
            <a:r>
              <a:rPr lang="en-US" dirty="0"/>
              <a:t>Used click() for radio &amp; checkboxes </a:t>
            </a:r>
          </a:p>
          <a:p>
            <a:pPr marL="285750" indent="-285750">
              <a:buFont typeface="Wingdings" panose="05000000000000000000" pitchFamily="2" charset="2"/>
              <a:buChar char="Ø"/>
            </a:pPr>
            <a:r>
              <a:rPr lang="en-US" dirty="0"/>
              <a:t>Used Select class for dropdowns</a:t>
            </a:r>
          </a:p>
          <a:p>
            <a:pPr marL="285750" indent="-285750">
              <a:buFont typeface="Wingdings" panose="05000000000000000000" pitchFamily="2" charset="2"/>
              <a:buChar char="Ø"/>
            </a:pP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9722" y="898014"/>
            <a:ext cx="7686261" cy="5903844"/>
          </a:xfrm>
          <a:prstGeom prst="rect">
            <a:avLst/>
          </a:prstGeom>
        </p:spPr>
      </p:pic>
    </p:spTree>
    <p:extLst>
      <p:ext uri="{BB962C8B-B14F-4D97-AF65-F5344CB8AC3E}">
        <p14:creationId xmlns:p14="http://schemas.microsoft.com/office/powerpoint/2010/main" val="25902762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05809" y="198783"/>
            <a:ext cx="6162260" cy="477054"/>
          </a:xfrm>
          <a:prstGeom prst="rect">
            <a:avLst/>
          </a:prstGeom>
          <a:noFill/>
        </p:spPr>
        <p:txBody>
          <a:bodyPr wrap="square" rtlCol="0">
            <a:spAutoFit/>
          </a:bodyPr>
          <a:lstStyle/>
          <a:p>
            <a:r>
              <a:rPr lang="en-IN" sz="2500" b="1" dirty="0">
                <a:solidFill>
                  <a:schemeClr val="bg1"/>
                </a:solidFill>
              </a:rPr>
              <a:t>Implementation – Date Pickers</a:t>
            </a:r>
          </a:p>
        </p:txBody>
      </p:sp>
      <p:sp>
        <p:nvSpPr>
          <p:cNvPr id="3" name="TextBox 2"/>
          <p:cNvSpPr txBox="1"/>
          <p:nvPr/>
        </p:nvSpPr>
        <p:spPr>
          <a:xfrm>
            <a:off x="145774" y="1033669"/>
            <a:ext cx="5062330" cy="1615827"/>
          </a:xfrm>
          <a:prstGeom prst="rect">
            <a:avLst/>
          </a:prstGeom>
          <a:noFill/>
        </p:spPr>
        <p:txBody>
          <a:bodyPr wrap="square" rtlCol="0">
            <a:spAutoFit/>
          </a:bodyPr>
          <a:lstStyle/>
          <a:p>
            <a:pPr>
              <a:lnSpc>
                <a:spcPct val="150000"/>
              </a:lnSpc>
            </a:pPr>
            <a:r>
              <a:rPr lang="en-IN" dirty="0"/>
              <a:t>Automated Date Controls </a:t>
            </a:r>
            <a:endParaRPr lang="en-IN" dirty="0" smtClean="0"/>
          </a:p>
          <a:p>
            <a:pPr marL="285750" indent="-285750">
              <a:buFont typeface="Wingdings" panose="05000000000000000000" pitchFamily="2" charset="2"/>
              <a:buChar char="Ø"/>
            </a:pPr>
            <a:r>
              <a:rPr lang="en-US" dirty="0" smtClean="0"/>
              <a:t>Date </a:t>
            </a:r>
            <a:r>
              <a:rPr lang="en-US" dirty="0"/>
              <a:t>Picker 1 </a:t>
            </a:r>
          </a:p>
          <a:p>
            <a:pPr marL="285750" indent="-285750">
              <a:buFont typeface="Wingdings" panose="05000000000000000000" pitchFamily="2" charset="2"/>
              <a:buChar char="Ø"/>
            </a:pPr>
            <a:r>
              <a:rPr lang="en-US" dirty="0"/>
              <a:t>Date Picker 2 </a:t>
            </a:r>
          </a:p>
          <a:p>
            <a:pPr marL="285750" indent="-285750">
              <a:buFont typeface="Wingdings" panose="05000000000000000000" pitchFamily="2" charset="2"/>
              <a:buChar char="Ø"/>
            </a:pPr>
            <a:r>
              <a:rPr lang="en-US" dirty="0"/>
              <a:t>Date Range </a:t>
            </a:r>
            <a:r>
              <a:rPr lang="en-US" dirty="0" smtClean="0"/>
              <a:t>Picker</a:t>
            </a:r>
            <a:endParaRPr lang="en-US"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0536" y="1431234"/>
            <a:ext cx="8971464" cy="5426765"/>
          </a:xfrm>
          <a:prstGeom prst="rect">
            <a:avLst/>
          </a:prstGeom>
        </p:spPr>
      </p:pic>
    </p:spTree>
    <p:extLst>
      <p:ext uri="{BB962C8B-B14F-4D97-AF65-F5344CB8AC3E}">
        <p14:creationId xmlns:p14="http://schemas.microsoft.com/office/powerpoint/2010/main" val="9400771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67270" y="145775"/>
            <a:ext cx="6838122" cy="477054"/>
          </a:xfrm>
          <a:prstGeom prst="rect">
            <a:avLst/>
          </a:prstGeom>
          <a:noFill/>
        </p:spPr>
        <p:txBody>
          <a:bodyPr wrap="square" rtlCol="0">
            <a:spAutoFit/>
          </a:bodyPr>
          <a:lstStyle/>
          <a:p>
            <a:r>
              <a:rPr lang="en-IN" sz="2500" b="1" dirty="0">
                <a:solidFill>
                  <a:schemeClr val="bg1"/>
                </a:solidFill>
              </a:rPr>
              <a:t>Implementation – File Upload &amp; Alerts </a:t>
            </a:r>
          </a:p>
        </p:txBody>
      </p:sp>
      <p:sp>
        <p:nvSpPr>
          <p:cNvPr id="3" name="TextBox 2"/>
          <p:cNvSpPr txBox="1"/>
          <p:nvPr/>
        </p:nvSpPr>
        <p:spPr>
          <a:xfrm>
            <a:off x="132521" y="610237"/>
            <a:ext cx="5645427" cy="2308324"/>
          </a:xfrm>
          <a:prstGeom prst="rect">
            <a:avLst/>
          </a:prstGeom>
          <a:noFill/>
        </p:spPr>
        <p:txBody>
          <a:bodyPr wrap="square" rtlCol="0">
            <a:spAutoFit/>
          </a:bodyPr>
          <a:lstStyle/>
          <a:p>
            <a:pPr>
              <a:lnSpc>
                <a:spcPct val="150000"/>
              </a:lnSpc>
            </a:pPr>
            <a:r>
              <a:rPr lang="en-US" dirty="0"/>
              <a:t>Automated: </a:t>
            </a:r>
            <a:endParaRPr lang="en-US" dirty="0" smtClean="0"/>
          </a:p>
          <a:p>
            <a:pPr marL="285750" indent="-285750">
              <a:buFont typeface="Wingdings" panose="05000000000000000000" pitchFamily="2" charset="2"/>
              <a:buChar char="Ø"/>
            </a:pPr>
            <a:r>
              <a:rPr lang="en-US" dirty="0" smtClean="0"/>
              <a:t>Single </a:t>
            </a:r>
            <a:r>
              <a:rPr lang="en-US" dirty="0"/>
              <a:t>File </a:t>
            </a:r>
            <a:r>
              <a:rPr lang="en-US" dirty="0" smtClean="0"/>
              <a:t>Upload</a:t>
            </a:r>
          </a:p>
          <a:p>
            <a:pPr marL="285750" indent="-285750">
              <a:buFont typeface="Wingdings" panose="05000000000000000000" pitchFamily="2" charset="2"/>
              <a:buChar char="Ø"/>
            </a:pPr>
            <a:r>
              <a:rPr lang="en-US" dirty="0" smtClean="0"/>
              <a:t>Multiple File Upload </a:t>
            </a:r>
          </a:p>
          <a:p>
            <a:pPr>
              <a:lnSpc>
                <a:spcPct val="150000"/>
              </a:lnSpc>
            </a:pPr>
            <a:r>
              <a:rPr lang="en-US" dirty="0" smtClean="0"/>
              <a:t> Alerts </a:t>
            </a:r>
            <a:r>
              <a:rPr lang="en-US" dirty="0"/>
              <a:t>Handled: </a:t>
            </a:r>
            <a:endParaRPr lang="en-US" dirty="0" smtClean="0"/>
          </a:p>
          <a:p>
            <a:pPr marL="285750" indent="-285750">
              <a:buFont typeface="Wingdings" panose="05000000000000000000" pitchFamily="2" charset="2"/>
              <a:buChar char="Ø"/>
            </a:pPr>
            <a:r>
              <a:rPr lang="en-US" dirty="0" smtClean="0"/>
              <a:t>Simple </a:t>
            </a:r>
            <a:r>
              <a:rPr lang="en-US" dirty="0"/>
              <a:t>Alert </a:t>
            </a:r>
            <a:endParaRPr lang="en-US" dirty="0" smtClean="0"/>
          </a:p>
          <a:p>
            <a:pPr marL="285750" indent="-285750">
              <a:buFont typeface="Wingdings" panose="05000000000000000000" pitchFamily="2" charset="2"/>
              <a:buChar char="Ø"/>
            </a:pPr>
            <a:r>
              <a:rPr lang="en-US" dirty="0" smtClean="0"/>
              <a:t>Confirmation </a:t>
            </a:r>
            <a:r>
              <a:rPr lang="en-US" dirty="0"/>
              <a:t>Alert </a:t>
            </a:r>
            <a:endParaRPr lang="en-US" dirty="0" smtClean="0"/>
          </a:p>
          <a:p>
            <a:pPr marL="285750" indent="-285750">
              <a:buFont typeface="Wingdings" panose="05000000000000000000" pitchFamily="2" charset="2"/>
              <a:buChar char="Ø"/>
            </a:pPr>
            <a:r>
              <a:rPr lang="en-US" dirty="0" smtClean="0"/>
              <a:t>Prompt </a:t>
            </a:r>
            <a:r>
              <a:rPr lang="en-US" dirty="0"/>
              <a:t>Alert</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521" y="2905968"/>
            <a:ext cx="6665844" cy="378638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8365" y="1749287"/>
            <a:ext cx="5287618" cy="4943061"/>
          </a:xfrm>
          <a:prstGeom prst="rect">
            <a:avLst/>
          </a:prstGeom>
        </p:spPr>
      </p:pic>
    </p:spTree>
    <p:extLst>
      <p:ext uri="{BB962C8B-B14F-4D97-AF65-F5344CB8AC3E}">
        <p14:creationId xmlns:p14="http://schemas.microsoft.com/office/powerpoint/2010/main" val="34061966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88333" y="248316"/>
            <a:ext cx="6798366" cy="477054"/>
          </a:xfrm>
          <a:prstGeom prst="rect">
            <a:avLst/>
          </a:prstGeom>
          <a:noFill/>
        </p:spPr>
        <p:txBody>
          <a:bodyPr wrap="square" rtlCol="0">
            <a:spAutoFit/>
          </a:bodyPr>
          <a:lstStyle/>
          <a:p>
            <a:r>
              <a:rPr lang="en-IN" sz="2500" b="1" dirty="0">
                <a:solidFill>
                  <a:schemeClr val="bg1"/>
                </a:solidFill>
              </a:rPr>
              <a:t>Implementation – Advanced Actions </a:t>
            </a:r>
          </a:p>
        </p:txBody>
      </p:sp>
      <p:sp>
        <p:nvSpPr>
          <p:cNvPr id="3" name="TextBox 2"/>
          <p:cNvSpPr txBox="1"/>
          <p:nvPr/>
        </p:nvSpPr>
        <p:spPr>
          <a:xfrm>
            <a:off x="106018" y="914400"/>
            <a:ext cx="4929808" cy="1892826"/>
          </a:xfrm>
          <a:prstGeom prst="rect">
            <a:avLst/>
          </a:prstGeom>
          <a:noFill/>
        </p:spPr>
        <p:txBody>
          <a:bodyPr wrap="square" rtlCol="0">
            <a:spAutoFit/>
          </a:bodyPr>
          <a:lstStyle/>
          <a:p>
            <a:pPr>
              <a:lnSpc>
                <a:spcPct val="150000"/>
              </a:lnSpc>
            </a:pPr>
            <a:r>
              <a:rPr lang="en-US" dirty="0"/>
              <a:t>Actions Performed </a:t>
            </a:r>
          </a:p>
          <a:p>
            <a:pPr marL="285750" indent="-285750">
              <a:buFont typeface="Wingdings" panose="05000000000000000000" pitchFamily="2" charset="2"/>
              <a:buChar char="Ø"/>
            </a:pPr>
            <a:r>
              <a:rPr lang="en-US" dirty="0"/>
              <a:t>Mouse Hover </a:t>
            </a:r>
          </a:p>
          <a:p>
            <a:pPr marL="285750" indent="-285750">
              <a:buFont typeface="Wingdings" panose="05000000000000000000" pitchFamily="2" charset="2"/>
              <a:buChar char="Ø"/>
            </a:pPr>
            <a:r>
              <a:rPr lang="en-US" dirty="0"/>
              <a:t>Double Click </a:t>
            </a:r>
          </a:p>
          <a:p>
            <a:pPr marL="285750" indent="-285750">
              <a:buFont typeface="Wingdings" panose="05000000000000000000" pitchFamily="2" charset="2"/>
              <a:buChar char="Ø"/>
            </a:pPr>
            <a:r>
              <a:rPr lang="en-US" dirty="0"/>
              <a:t>Drag and Drop </a:t>
            </a:r>
          </a:p>
          <a:p>
            <a:pPr marL="285750" indent="-285750">
              <a:buFont typeface="Wingdings" panose="05000000000000000000" pitchFamily="2" charset="2"/>
              <a:buChar char="Ø"/>
            </a:pPr>
            <a:r>
              <a:rPr lang="en-US" dirty="0"/>
              <a:t>Slider Movement </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843" y="1160548"/>
            <a:ext cx="4576044" cy="569745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3583" y="1160549"/>
            <a:ext cx="3926232" cy="5697451"/>
          </a:xfrm>
          <a:prstGeom prst="rect">
            <a:avLst/>
          </a:prstGeom>
        </p:spPr>
      </p:pic>
      <p:sp>
        <p:nvSpPr>
          <p:cNvPr id="6" name="TextBox 5"/>
          <p:cNvSpPr txBox="1"/>
          <p:nvPr/>
        </p:nvSpPr>
        <p:spPr>
          <a:xfrm>
            <a:off x="106018" y="2507958"/>
            <a:ext cx="3763617" cy="1615827"/>
          </a:xfrm>
          <a:prstGeom prst="rect">
            <a:avLst/>
          </a:prstGeom>
          <a:noFill/>
        </p:spPr>
        <p:txBody>
          <a:bodyPr wrap="square" rtlCol="0">
            <a:spAutoFit/>
          </a:bodyPr>
          <a:lstStyle/>
          <a:p>
            <a:pPr>
              <a:lnSpc>
                <a:spcPct val="150000"/>
              </a:lnSpc>
            </a:pPr>
            <a:r>
              <a:rPr lang="en-IN" dirty="0" smtClean="0"/>
              <a:t>Implementation</a:t>
            </a:r>
          </a:p>
          <a:p>
            <a:pPr marL="285750" indent="-285750">
              <a:buFont typeface="Wingdings" panose="05000000000000000000" pitchFamily="2" charset="2"/>
              <a:buChar char="Ø"/>
            </a:pPr>
            <a:r>
              <a:rPr lang="en-US" dirty="0" smtClean="0"/>
              <a:t>Used Act class for Advance    Actions </a:t>
            </a:r>
            <a:endParaRPr lang="en-US" dirty="0"/>
          </a:p>
          <a:p>
            <a:endParaRPr lang="en-IN" dirty="0"/>
          </a:p>
          <a:p>
            <a:endParaRPr lang="en-IN" dirty="0"/>
          </a:p>
        </p:txBody>
      </p:sp>
    </p:spTree>
    <p:extLst>
      <p:ext uri="{BB962C8B-B14F-4D97-AF65-F5344CB8AC3E}">
        <p14:creationId xmlns:p14="http://schemas.microsoft.com/office/powerpoint/2010/main" val="30340120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790" y="318051"/>
            <a:ext cx="7209183" cy="477054"/>
          </a:xfrm>
          <a:prstGeom prst="rect">
            <a:avLst/>
          </a:prstGeom>
          <a:noFill/>
        </p:spPr>
        <p:txBody>
          <a:bodyPr wrap="square" rtlCol="0">
            <a:spAutoFit/>
          </a:bodyPr>
          <a:lstStyle/>
          <a:p>
            <a:r>
              <a:rPr lang="en-US" sz="2500" b="1" dirty="0" smtClean="0">
                <a:solidFill>
                  <a:schemeClr val="bg1"/>
                </a:solidFill>
                <a:latin typeface="Times New Roman" panose="02020603050405020304" pitchFamily="18" charset="0"/>
                <a:cs typeface="Times New Roman" panose="02020603050405020304" pitchFamily="18" charset="0"/>
              </a:rPr>
              <a:t>Code Snippets-</a:t>
            </a:r>
            <a:endParaRPr lang="en-IN" sz="25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34864"/>
            <a:ext cx="5551731" cy="582313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1730" y="1034864"/>
            <a:ext cx="5831886" cy="5823136"/>
          </a:xfrm>
          <a:prstGeom prst="rect">
            <a:avLst/>
          </a:prstGeom>
        </p:spPr>
      </p:pic>
    </p:spTree>
    <p:extLst>
      <p:ext uri="{BB962C8B-B14F-4D97-AF65-F5344CB8AC3E}">
        <p14:creationId xmlns:p14="http://schemas.microsoft.com/office/powerpoint/2010/main" val="7037390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9843" y="318052"/>
            <a:ext cx="6930886" cy="477054"/>
          </a:xfrm>
          <a:prstGeom prst="rect">
            <a:avLst/>
          </a:prstGeom>
          <a:noFill/>
        </p:spPr>
        <p:txBody>
          <a:bodyPr wrap="square" rtlCol="0">
            <a:spAutoFit/>
          </a:bodyPr>
          <a:lstStyle/>
          <a:p>
            <a:r>
              <a:rPr lang="en-US" sz="2500" b="1" dirty="0" smtClean="0">
                <a:solidFill>
                  <a:schemeClr val="bg1"/>
                </a:solidFill>
                <a:latin typeface="Times New Roman" panose="02020603050405020304" pitchFamily="18" charset="0"/>
                <a:cs typeface="Times New Roman" panose="02020603050405020304" pitchFamily="18" charset="0"/>
              </a:rPr>
              <a:t>Console Output -</a:t>
            </a:r>
            <a:endParaRPr lang="en-IN" sz="25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22" y="1077457"/>
            <a:ext cx="9475304" cy="5654647"/>
          </a:xfrm>
          <a:prstGeom prst="rect">
            <a:avLst/>
          </a:prstGeom>
        </p:spPr>
      </p:pic>
    </p:spTree>
    <p:extLst>
      <p:ext uri="{BB962C8B-B14F-4D97-AF65-F5344CB8AC3E}">
        <p14:creationId xmlns:p14="http://schemas.microsoft.com/office/powerpoint/2010/main" val="23288019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p:cNvGraphicFramePr>
            <a:graphicFrameLocks noGrp="1"/>
          </p:cNvGraphicFramePr>
          <p:nvPr>
            <p:extLst>
              <p:ext uri="{D42A27DB-BD31-4B8C-83A1-F6EECF244321}">
                <p14:modId xmlns:p14="http://schemas.microsoft.com/office/powerpoint/2010/main" val="4224436912"/>
              </p:ext>
            </p:extLst>
          </p:nvPr>
        </p:nvGraphicFramePr>
        <p:xfrm>
          <a:off x="222574" y="1139688"/>
          <a:ext cx="11108034" cy="8592855"/>
        </p:xfrm>
        <a:graphic>
          <a:graphicData uri="http://schemas.openxmlformats.org/drawingml/2006/table">
            <a:tbl>
              <a:tblPr>
                <a:tableStyleId>{2D5ABB26-0587-4C30-8999-92F81FD0307C}</a:tableStyleId>
              </a:tblPr>
              <a:tblGrid>
                <a:gridCol w="3702678">
                  <a:extLst>
                    <a:ext uri="{9D8B030D-6E8A-4147-A177-3AD203B41FA5}">
                      <a16:colId xmlns:a16="http://schemas.microsoft.com/office/drawing/2014/main" val="2928998439"/>
                    </a:ext>
                  </a:extLst>
                </a:gridCol>
                <a:gridCol w="3702678">
                  <a:extLst>
                    <a:ext uri="{9D8B030D-6E8A-4147-A177-3AD203B41FA5}">
                      <a16:colId xmlns:a16="http://schemas.microsoft.com/office/drawing/2014/main" val="3113731695"/>
                    </a:ext>
                  </a:extLst>
                </a:gridCol>
                <a:gridCol w="3702678">
                  <a:extLst>
                    <a:ext uri="{9D8B030D-6E8A-4147-A177-3AD203B41FA5}">
                      <a16:colId xmlns:a16="http://schemas.microsoft.com/office/drawing/2014/main" val="1543515219"/>
                    </a:ext>
                  </a:extLst>
                </a:gridCol>
              </a:tblGrid>
              <a:tr h="453138">
                <a:tc>
                  <a:txBody>
                    <a:bodyPr/>
                    <a:lstStyle/>
                    <a:p>
                      <a:r>
                        <a:rPr lang="en-IN" sz="2000" b="1" dirty="0">
                          <a:solidFill>
                            <a:schemeClr val="bg1"/>
                          </a:solidFill>
                          <a:latin typeface="Times New Roman" panose="02020603050405020304" pitchFamily="18" charset="0"/>
                          <a:cs typeface="Times New Roman" panose="02020603050405020304" pitchFamily="18" charset="0"/>
                        </a:rPr>
                        <a:t>Test Case ID</a:t>
                      </a:r>
                    </a:p>
                  </a:txBody>
                  <a:tcPr marL="48227" marR="48227" marT="24114" marB="24114" anchor="ctr"/>
                </a:tc>
                <a:tc>
                  <a:txBody>
                    <a:bodyPr/>
                    <a:lstStyle/>
                    <a:p>
                      <a:r>
                        <a:rPr lang="en-IN" sz="2000" b="1" dirty="0">
                          <a:solidFill>
                            <a:schemeClr val="bg1"/>
                          </a:solidFill>
                          <a:latin typeface="Times New Roman" panose="02020603050405020304" pitchFamily="18" charset="0"/>
                          <a:cs typeface="Times New Roman" panose="02020603050405020304" pitchFamily="18" charset="0"/>
                        </a:rPr>
                        <a:t>Test Scenario</a:t>
                      </a:r>
                    </a:p>
                  </a:txBody>
                  <a:tcPr marL="48227" marR="48227" marT="24114" marB="24114" anchor="ct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Status</a:t>
                      </a:r>
                    </a:p>
                  </a:txBody>
                  <a:tcPr marL="48227" marR="48227" marT="24114" marB="24114" anchor="ctr"/>
                </a:tc>
                <a:extLst>
                  <a:ext uri="{0D108BD9-81ED-4DB2-BD59-A6C34878D82A}">
                    <a16:rowId xmlns:a16="http://schemas.microsoft.com/office/drawing/2014/main" val="3408993014"/>
                  </a:ext>
                </a:extLst>
              </a:tr>
              <a:tr h="461261">
                <a:tc>
                  <a:txBody>
                    <a:bodyPr/>
                    <a:lstStyle/>
                    <a:p>
                      <a:r>
                        <a:rPr lang="en-IN" sz="2000" dirty="0">
                          <a:latin typeface="Times New Roman" panose="02020603050405020304" pitchFamily="18" charset="0"/>
                          <a:cs typeface="Times New Roman" panose="02020603050405020304" pitchFamily="18" charset="0"/>
                        </a:rPr>
                        <a:t>TC_001</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Name Field</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2467389017"/>
                  </a:ext>
                </a:extLst>
              </a:tr>
              <a:tr h="551464">
                <a:tc>
                  <a:txBody>
                    <a:bodyPr/>
                    <a:lstStyle/>
                    <a:p>
                      <a:r>
                        <a:rPr lang="en-IN" sz="2000" dirty="0" smtClean="0">
                          <a:latin typeface="Times New Roman" panose="02020603050405020304" pitchFamily="18" charset="0"/>
                          <a:cs typeface="Times New Roman" panose="02020603050405020304" pitchFamily="18" charset="0"/>
                        </a:rPr>
                        <a:t>TC_002</a:t>
                      </a:r>
                    </a:p>
                  </a:txBody>
                  <a:tcPr marL="48227" marR="48227" marT="24114" marB="24114" anchor="ctr"/>
                </a:tc>
                <a:tc>
                  <a:txBody>
                    <a:bodyPr/>
                    <a:lstStyle/>
                    <a:p>
                      <a:r>
                        <a:rPr lang="en-IN" sz="2000" baseline="0" dirty="0" smtClean="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Email </a:t>
                      </a:r>
                      <a:r>
                        <a:rPr lang="en-IN" sz="2000" dirty="0">
                          <a:latin typeface="Times New Roman" panose="02020603050405020304" pitchFamily="18" charset="0"/>
                          <a:cs typeface="Times New Roman" panose="02020603050405020304" pitchFamily="18" charset="0"/>
                        </a:rPr>
                        <a:t>Field</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440098773"/>
                  </a:ext>
                </a:extLst>
              </a:tr>
              <a:tr h="463826">
                <a:tc>
                  <a:txBody>
                    <a:bodyPr/>
                    <a:lstStyle/>
                    <a:p>
                      <a:r>
                        <a:rPr lang="en-IN" sz="2000" dirty="0" smtClean="0">
                          <a:latin typeface="Times New Roman" panose="02020603050405020304" pitchFamily="18" charset="0"/>
                          <a:cs typeface="Times New Roman" panose="02020603050405020304" pitchFamily="18" charset="0"/>
                        </a:rPr>
                        <a:t>TC_003</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Phone Field</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Passed</a:t>
                      </a:r>
                    </a:p>
                  </a:txBody>
                  <a:tcPr marL="48227" marR="48227" marT="24114" marB="24114" anchor="ctr"/>
                </a:tc>
                <a:extLst>
                  <a:ext uri="{0D108BD9-81ED-4DB2-BD59-A6C34878D82A}">
                    <a16:rowId xmlns:a16="http://schemas.microsoft.com/office/drawing/2014/main" val="1124998227"/>
                  </a:ext>
                </a:extLst>
              </a:tr>
              <a:tr h="593786">
                <a:tc>
                  <a:txBody>
                    <a:bodyPr/>
                    <a:lstStyle/>
                    <a:p>
                      <a:r>
                        <a:rPr lang="en-IN" sz="2000" dirty="0" smtClean="0">
                          <a:latin typeface="Times New Roman" panose="02020603050405020304" pitchFamily="18" charset="0"/>
                          <a:cs typeface="Times New Roman" panose="02020603050405020304" pitchFamily="18" charset="0"/>
                        </a:rPr>
                        <a:t>TC_004</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Address Field</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243341287"/>
                  </a:ext>
                </a:extLst>
              </a:tr>
              <a:tr h="530434">
                <a:tc>
                  <a:txBody>
                    <a:bodyPr/>
                    <a:lstStyle/>
                    <a:p>
                      <a:pPr>
                        <a:lnSpc>
                          <a:spcPct val="100000"/>
                        </a:lnSpc>
                      </a:pPr>
                      <a:r>
                        <a:rPr lang="en-IN" sz="2000" dirty="0">
                          <a:latin typeface="Times New Roman" panose="02020603050405020304" pitchFamily="18" charset="0"/>
                          <a:cs typeface="Times New Roman" panose="02020603050405020304" pitchFamily="18" charset="0"/>
                        </a:rPr>
                        <a:t>TC_005</a:t>
                      </a:r>
                    </a:p>
                  </a:txBody>
                  <a:tcPr marL="48227" marR="48227" marT="24114" marB="24114" anchor="ctr"/>
                </a:tc>
                <a:tc>
                  <a:txBody>
                    <a:bodyPr/>
                    <a:lstStyle/>
                    <a:p>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Gender Selection (Radio Button)</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633910627"/>
                  </a:ext>
                </a:extLst>
              </a:tr>
              <a:tr h="569844">
                <a:tc>
                  <a:txBody>
                    <a:bodyPr/>
                    <a:lstStyle/>
                    <a:p>
                      <a:r>
                        <a:rPr lang="en-IN" sz="2000" dirty="0">
                          <a:latin typeface="Times New Roman" panose="02020603050405020304" pitchFamily="18" charset="0"/>
                          <a:cs typeface="Times New Roman" panose="02020603050405020304" pitchFamily="18" charset="0"/>
                        </a:rPr>
                        <a:t>TC_006</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Days Selection (Checkboxes)</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4158527709"/>
                  </a:ext>
                </a:extLst>
              </a:tr>
              <a:tr h="569843">
                <a:tc>
                  <a:txBody>
                    <a:bodyPr/>
                    <a:lstStyle/>
                    <a:p>
                      <a:r>
                        <a:rPr lang="en-IN" sz="2000">
                          <a:latin typeface="Times New Roman" panose="02020603050405020304" pitchFamily="18" charset="0"/>
                          <a:cs typeface="Times New Roman" panose="02020603050405020304" pitchFamily="18" charset="0"/>
                        </a:rPr>
                        <a:t>TC_007</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Country Dropdown</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1132684743"/>
                  </a:ext>
                </a:extLst>
              </a:tr>
              <a:tr h="530087">
                <a:tc>
                  <a:txBody>
                    <a:bodyPr/>
                    <a:lstStyle/>
                    <a:p>
                      <a:r>
                        <a:rPr lang="en-IN" sz="2000">
                          <a:latin typeface="Times New Roman" panose="02020603050405020304" pitchFamily="18" charset="0"/>
                          <a:cs typeface="Times New Roman" panose="02020603050405020304" pitchFamily="18" charset="0"/>
                        </a:rPr>
                        <a:t>TC_008</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Colors Dropdown</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1490979198"/>
                  </a:ext>
                </a:extLst>
              </a:tr>
              <a:tr h="540778">
                <a:tc>
                  <a:txBody>
                    <a:bodyPr/>
                    <a:lstStyle/>
                    <a:p>
                      <a:r>
                        <a:rPr lang="en-IN" sz="2000">
                          <a:latin typeface="Times New Roman" panose="02020603050405020304" pitchFamily="18" charset="0"/>
                          <a:cs typeface="Times New Roman" panose="02020603050405020304" pitchFamily="18" charset="0"/>
                        </a:rPr>
                        <a:t>TC_009</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Sorted List Dropdown</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1020854851"/>
                  </a:ext>
                </a:extLst>
              </a:tr>
              <a:tr h="400127">
                <a:tc>
                  <a:txBody>
                    <a:bodyPr/>
                    <a:lstStyle/>
                    <a:p>
                      <a:r>
                        <a:rPr lang="en-IN" sz="2000">
                          <a:latin typeface="Times New Roman" panose="02020603050405020304" pitchFamily="18" charset="0"/>
                          <a:cs typeface="Times New Roman" panose="02020603050405020304" pitchFamily="18" charset="0"/>
                        </a:rPr>
                        <a:t>TC_010</a:t>
                      </a:r>
                    </a:p>
                  </a:txBody>
                  <a:tcPr marL="48227" marR="48227" marT="24114" marB="24114" anchor="ctr"/>
                </a:tc>
                <a:tc>
                  <a:txBody>
                    <a:bodyPr/>
                    <a:lstStyle/>
                    <a:p>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Date Picker</a:t>
                      </a:r>
                    </a:p>
                  </a:txBody>
                  <a:tcPr marL="48227" marR="48227" marT="24114" marB="24114" anchor="ctr"/>
                </a:tc>
                <a:tc>
                  <a:txBody>
                    <a:bodyPr/>
                    <a:lstStyle/>
                    <a:p>
                      <a:pPr algn="ctr"/>
                      <a:r>
                        <a:rPr lang="en-IN" sz="2000" dirty="0">
                          <a:latin typeface="Times New Roman" panose="02020603050405020304" pitchFamily="18" charset="0"/>
                          <a:cs typeface="Times New Roman" panose="02020603050405020304" pitchFamily="18" charset="0"/>
                        </a:rPr>
                        <a:t>✅ Passed</a:t>
                      </a:r>
                    </a:p>
                  </a:txBody>
                  <a:tcPr marL="48227" marR="48227" marT="24114" marB="24114" anchor="ctr"/>
                </a:tc>
                <a:extLst>
                  <a:ext uri="{0D108BD9-81ED-4DB2-BD59-A6C34878D82A}">
                    <a16:rowId xmlns:a16="http://schemas.microsoft.com/office/drawing/2014/main" val="3641231507"/>
                  </a:ext>
                </a:extLst>
              </a:tr>
              <a:tr h="37784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870259981"/>
                  </a:ext>
                </a:extLst>
              </a:tr>
              <a:tr h="37784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1405555095"/>
                  </a:ext>
                </a:extLst>
              </a:tr>
              <a:tr h="37784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2196455984"/>
                  </a:ext>
                </a:extLst>
              </a:tr>
              <a:tr h="37784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2958241495"/>
                  </a:ext>
                </a:extLst>
              </a:tr>
              <a:tr h="37784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81520765"/>
                  </a:ext>
                </a:extLst>
              </a:tr>
              <a:tr h="37784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496844619"/>
                  </a:ext>
                </a:extLst>
              </a:tr>
              <a:tr h="661221">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endParaRPr lang="en-IN" sz="1500" dirty="0">
                        <a:latin typeface="Times New Roman" panose="02020603050405020304" pitchFamily="18" charset="0"/>
                        <a:cs typeface="Times New Roman" panose="02020603050405020304" pitchFamily="18" charset="0"/>
                      </a:endParaRPr>
                    </a:p>
                  </a:txBody>
                  <a:tcPr marL="48227" marR="48227" marT="24114" marB="24114" anchor="ctr"/>
                </a:tc>
                <a:tc>
                  <a:txBody>
                    <a:bodyPr/>
                    <a:lstStyle/>
                    <a:p>
                      <a:pPr algn="ctr"/>
                      <a:endParaRPr lang="en-IN" sz="1500" dirty="0">
                        <a:latin typeface="Times New Roman" panose="02020603050405020304" pitchFamily="18" charset="0"/>
                        <a:cs typeface="Times New Roman" panose="02020603050405020304" pitchFamily="18" charset="0"/>
                      </a:endParaRPr>
                    </a:p>
                  </a:txBody>
                  <a:tcPr marL="48227" marR="48227" marT="24114" marB="24114" anchor="ctr"/>
                </a:tc>
                <a:extLst>
                  <a:ext uri="{0D108BD9-81ED-4DB2-BD59-A6C34878D82A}">
                    <a16:rowId xmlns:a16="http://schemas.microsoft.com/office/drawing/2014/main" val="1748569191"/>
                  </a:ext>
                </a:extLst>
              </a:tr>
            </a:tbl>
          </a:graphicData>
        </a:graphic>
      </p:graphicFrame>
      <p:sp>
        <p:nvSpPr>
          <p:cNvPr id="23" name="Rectangle 2"/>
          <p:cNvSpPr>
            <a:spLocks noChangeArrowheads="1"/>
          </p:cNvSpPr>
          <p:nvPr/>
        </p:nvSpPr>
        <p:spPr bwMode="auto">
          <a:xfrm>
            <a:off x="5265027" y="2425860"/>
            <a:ext cx="24237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latin typeface="Arial" panose="020B0604020202020204" pitchFamily="34" charset="0"/>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4" name="TextBox 23"/>
          <p:cNvSpPr txBox="1"/>
          <p:nvPr/>
        </p:nvSpPr>
        <p:spPr>
          <a:xfrm>
            <a:off x="2690191" y="403849"/>
            <a:ext cx="6732104" cy="477054"/>
          </a:xfrm>
          <a:prstGeom prst="rect">
            <a:avLst/>
          </a:prstGeom>
          <a:noFill/>
        </p:spPr>
        <p:txBody>
          <a:bodyPr wrap="square" rtlCol="0">
            <a:spAutoFit/>
          </a:bodyPr>
          <a:lstStyle/>
          <a:p>
            <a:r>
              <a:rPr lang="en-IN" sz="2500" b="1" dirty="0">
                <a:solidFill>
                  <a:schemeClr val="bg1"/>
                </a:solidFill>
                <a:latin typeface="Times New Roman" panose="02020603050405020304" pitchFamily="18" charset="0"/>
                <a:cs typeface="Times New Roman" panose="02020603050405020304" pitchFamily="18" charset="0"/>
              </a:rPr>
              <a:t>Test Scenarios </a:t>
            </a:r>
            <a:r>
              <a:rPr lang="en-IN" sz="2500" b="1" dirty="0" smtClean="0">
                <a:solidFill>
                  <a:schemeClr val="bg1"/>
                </a:solidFill>
                <a:latin typeface="Times New Roman" panose="02020603050405020304" pitchFamily="18" charset="0"/>
                <a:cs typeface="Times New Roman" panose="02020603050405020304" pitchFamily="18" charset="0"/>
              </a:rPr>
              <a:t>– TC_001 to TC_10</a:t>
            </a:r>
            <a:endParaRPr lang="en-IN" sz="2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4629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810" y="1219201"/>
            <a:ext cx="10628242" cy="4708981"/>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Test Case </a:t>
            </a:r>
            <a:r>
              <a:rPr lang="en-IN" sz="2000" b="1" dirty="0" smtClean="0">
                <a:solidFill>
                  <a:schemeClr val="bg1"/>
                </a:solidFill>
                <a:latin typeface="Times New Roman" panose="02020603050405020304" pitchFamily="18" charset="0"/>
                <a:cs typeface="Times New Roman" panose="02020603050405020304" pitchFamily="18" charset="0"/>
              </a:rPr>
              <a:t>ID                                 Test Scenario                                                            Status</a:t>
            </a:r>
          </a:p>
          <a:p>
            <a:r>
              <a:rPr lang="en-US"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TC_011                                            File Upload                                                          </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Passed</a:t>
            </a:r>
          </a:p>
          <a:p>
            <a:r>
              <a:rPr lang="en-US"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TC_012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Alert Handling                                                       ✅ Passed</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TC_013 </a:t>
            </a:r>
            <a:r>
              <a:rPr lang="en-IN" sz="2000" dirty="0" smtClean="0">
                <a:latin typeface="Times New Roman" panose="02020603050405020304" pitchFamily="18" charset="0"/>
                <a:cs typeface="Times New Roman" panose="02020603050405020304" pitchFamily="18" charset="0"/>
              </a:rPr>
              <a:t>                                          Mouse </a:t>
            </a:r>
            <a:r>
              <a:rPr lang="en-IN" sz="2000" dirty="0">
                <a:latin typeface="Times New Roman" panose="02020603050405020304" pitchFamily="18" charset="0"/>
                <a:cs typeface="Times New Roman" panose="02020603050405020304" pitchFamily="18" charset="0"/>
              </a:rPr>
              <a:t>Hover </a:t>
            </a:r>
            <a:r>
              <a:rPr lang="en-IN" sz="2000" dirty="0" smtClean="0">
                <a:latin typeface="Times New Roman" panose="02020603050405020304" pitchFamily="18" charset="0"/>
                <a:cs typeface="Times New Roman" panose="02020603050405020304" pitchFamily="18" charset="0"/>
              </a:rPr>
              <a:t>                                                       ✅ Passed</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TC_014 </a:t>
            </a:r>
            <a:r>
              <a:rPr lang="en-IN" sz="2000" dirty="0" smtClean="0">
                <a:latin typeface="Times New Roman" panose="02020603050405020304" pitchFamily="18" charset="0"/>
                <a:cs typeface="Times New Roman" panose="02020603050405020304" pitchFamily="18" charset="0"/>
              </a:rPr>
              <a:t>                                          Double Click                                                        </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Passed</a:t>
            </a:r>
          </a:p>
          <a:p>
            <a:r>
              <a:rPr lang="en-US"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TC_015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Drag and Drop </a:t>
            </a:r>
            <a:r>
              <a:rPr lang="en-IN" sz="2000" dirty="0" smtClean="0">
                <a:latin typeface="Times New Roman" panose="02020603050405020304" pitchFamily="18" charset="0"/>
                <a:cs typeface="Times New Roman" panose="02020603050405020304" pitchFamily="18" charset="0"/>
              </a:rPr>
              <a:t>                                                     ✅ Passed</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TC_016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Slider                                                                   ✅ </a:t>
            </a:r>
            <a:r>
              <a:rPr lang="en-IN" sz="2000" dirty="0">
                <a:latin typeface="Times New Roman" panose="02020603050405020304" pitchFamily="18" charset="0"/>
                <a:cs typeface="Times New Roman" panose="02020603050405020304" pitchFamily="18" charset="0"/>
              </a:rPr>
              <a:t>Passed</a:t>
            </a:r>
          </a:p>
          <a:p>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TC_017                                        Complete </a:t>
            </a:r>
            <a:r>
              <a:rPr lang="en-IN" sz="2000" dirty="0">
                <a:latin typeface="Times New Roman" panose="02020603050405020304" pitchFamily="18" charset="0"/>
                <a:cs typeface="Times New Roman" panose="02020603050405020304" pitchFamily="18" charset="0"/>
              </a:rPr>
              <a:t>GUI </a:t>
            </a:r>
            <a:r>
              <a:rPr lang="en-IN" sz="2000" dirty="0" smtClean="0">
                <a:latin typeface="Times New Roman" panose="02020603050405020304" pitchFamily="18" charset="0"/>
                <a:cs typeface="Times New Roman" panose="02020603050405020304" pitchFamily="18" charset="0"/>
              </a:rPr>
              <a:t>Execution                                         ✅ </a:t>
            </a:r>
            <a:r>
              <a:rPr lang="en-IN" sz="2000" dirty="0">
                <a:latin typeface="Times New Roman" panose="02020603050405020304" pitchFamily="18" charset="0"/>
                <a:cs typeface="Times New Roman" panose="02020603050405020304" pitchFamily="18" charset="0"/>
              </a:rPr>
              <a:t>Passed</a:t>
            </a:r>
          </a:p>
        </p:txBody>
      </p:sp>
      <p:sp>
        <p:nvSpPr>
          <p:cNvPr id="5" name="TextBox 4"/>
          <p:cNvSpPr txBox="1"/>
          <p:nvPr/>
        </p:nvSpPr>
        <p:spPr>
          <a:xfrm>
            <a:off x="3101009" y="304800"/>
            <a:ext cx="6056243" cy="754053"/>
          </a:xfrm>
          <a:prstGeom prst="rect">
            <a:avLst/>
          </a:prstGeom>
          <a:noFill/>
        </p:spPr>
        <p:txBody>
          <a:bodyPr wrap="square" rtlCol="0">
            <a:spAutoFit/>
          </a:bodyPr>
          <a:lstStyle/>
          <a:p>
            <a:r>
              <a:rPr lang="en-IN" sz="2500" b="1" dirty="0">
                <a:solidFill>
                  <a:schemeClr val="bg1"/>
                </a:solidFill>
                <a:latin typeface="Times New Roman" panose="02020603050405020304" pitchFamily="18" charset="0"/>
                <a:cs typeface="Times New Roman" panose="02020603050405020304" pitchFamily="18" charset="0"/>
              </a:rPr>
              <a:t>Test Scenarios – </a:t>
            </a:r>
            <a:r>
              <a:rPr lang="en-IN" sz="2500" b="1" dirty="0" smtClean="0">
                <a:solidFill>
                  <a:schemeClr val="bg1"/>
                </a:solidFill>
                <a:latin typeface="Times New Roman" panose="02020603050405020304" pitchFamily="18" charset="0"/>
                <a:cs typeface="Times New Roman" panose="02020603050405020304" pitchFamily="18" charset="0"/>
              </a:rPr>
              <a:t>TC_10 </a:t>
            </a:r>
            <a:r>
              <a:rPr lang="en-IN" sz="2500" b="1" dirty="0">
                <a:solidFill>
                  <a:schemeClr val="bg1"/>
                </a:solidFill>
                <a:latin typeface="Times New Roman" panose="02020603050405020304" pitchFamily="18" charset="0"/>
                <a:cs typeface="Times New Roman" panose="02020603050405020304" pitchFamily="18" charset="0"/>
              </a:rPr>
              <a:t>to </a:t>
            </a:r>
            <a:r>
              <a:rPr lang="en-IN" sz="2500" b="1" dirty="0" smtClean="0">
                <a:solidFill>
                  <a:schemeClr val="bg1"/>
                </a:solidFill>
                <a:latin typeface="Times New Roman" panose="02020603050405020304" pitchFamily="18" charset="0"/>
                <a:cs typeface="Times New Roman" panose="02020603050405020304" pitchFamily="18" charset="0"/>
              </a:rPr>
              <a:t>TC_17</a:t>
            </a:r>
            <a:endParaRPr lang="en-IN" sz="2500" b="1" dirty="0">
              <a:solidFill>
                <a:schemeClr val="bg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282712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0818" y="318053"/>
            <a:ext cx="6533322" cy="477054"/>
          </a:xfrm>
          <a:prstGeom prst="rect">
            <a:avLst/>
          </a:prstGeom>
          <a:noFill/>
        </p:spPr>
        <p:txBody>
          <a:bodyPr wrap="square" rtlCol="0">
            <a:spAutoFit/>
          </a:bodyPr>
          <a:lstStyle/>
          <a:p>
            <a:r>
              <a:rPr lang="en-US" sz="2500" b="1" dirty="0" smtClean="0">
                <a:solidFill>
                  <a:schemeClr val="bg1"/>
                </a:solidFill>
                <a:latin typeface="Times New Roman" panose="02020603050405020304" pitchFamily="18" charset="0"/>
                <a:cs typeface="Times New Roman" panose="02020603050405020304" pitchFamily="18" charset="0"/>
              </a:rPr>
              <a:t>Extent Report -</a:t>
            </a:r>
            <a:endParaRPr lang="en-IN" sz="25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818" y="1017317"/>
            <a:ext cx="10482469" cy="5840683"/>
          </a:xfrm>
          <a:prstGeom prst="rect">
            <a:avLst/>
          </a:prstGeom>
        </p:spPr>
      </p:pic>
    </p:spTree>
    <p:extLst>
      <p:ext uri="{BB962C8B-B14F-4D97-AF65-F5344CB8AC3E}">
        <p14:creationId xmlns:p14="http://schemas.microsoft.com/office/powerpoint/2010/main" val="17109822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9478" y="331305"/>
            <a:ext cx="6414052" cy="477054"/>
          </a:xfrm>
          <a:prstGeom prst="rect">
            <a:avLst/>
          </a:prstGeom>
          <a:noFill/>
        </p:spPr>
        <p:txBody>
          <a:bodyPr wrap="square" rtlCol="0">
            <a:spAutoFit/>
          </a:bodyPr>
          <a:lstStyle/>
          <a:p>
            <a:r>
              <a:rPr lang="en-IN" sz="2500" b="1" dirty="0" smtClean="0">
                <a:solidFill>
                  <a:schemeClr val="bg1"/>
                </a:solidFill>
                <a:latin typeface="+mj-lt"/>
                <a:cs typeface="Times New Roman" panose="02020603050405020304" pitchFamily="18" charset="0"/>
              </a:rPr>
              <a:t>Execution Process</a:t>
            </a:r>
            <a:endParaRPr lang="en-IN" sz="2500" b="1" dirty="0">
              <a:solidFill>
                <a:schemeClr val="bg1"/>
              </a:solidFill>
              <a:latin typeface="+mj-lt"/>
              <a:cs typeface="Times New Roman" panose="02020603050405020304" pitchFamily="18" charset="0"/>
            </a:endParaRPr>
          </a:p>
        </p:txBody>
      </p:sp>
      <p:sp>
        <p:nvSpPr>
          <p:cNvPr id="3" name="TextBox 2"/>
          <p:cNvSpPr txBox="1"/>
          <p:nvPr/>
        </p:nvSpPr>
        <p:spPr>
          <a:xfrm>
            <a:off x="225287" y="1431235"/>
            <a:ext cx="11423374" cy="4308872"/>
          </a:xfrm>
          <a:prstGeom prst="rect">
            <a:avLst/>
          </a:prstGeom>
          <a:noFill/>
        </p:spPr>
        <p:txBody>
          <a:bodyPr wrap="square" rtlCol="0">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              Step                                                                 Description</a:t>
            </a:r>
          </a:p>
          <a:p>
            <a:endParaRPr lang="en-US" dirty="0"/>
          </a:p>
          <a:p>
            <a:pPr marL="342900" indent="-342900">
              <a:buAutoNum type="arabicPeriod"/>
            </a:pPr>
            <a:r>
              <a:rPr lang="en-US" dirty="0" smtClean="0"/>
              <a:t>Launch </a:t>
            </a:r>
            <a:r>
              <a:rPr lang="en-US" dirty="0"/>
              <a:t>Browser </a:t>
            </a:r>
            <a:r>
              <a:rPr lang="en-US" dirty="0" smtClean="0"/>
              <a:t>                         Chrome </a:t>
            </a:r>
            <a:r>
              <a:rPr lang="en-US" dirty="0"/>
              <a:t>browser is launched using Selenium WebDriver</a:t>
            </a:r>
            <a:r>
              <a:rPr lang="en-US" dirty="0" smtClean="0"/>
              <a:t>.</a:t>
            </a:r>
          </a:p>
          <a:p>
            <a:pPr marL="342900" indent="-342900">
              <a:buAutoNum type="arabicPeriod"/>
            </a:pPr>
            <a:endParaRPr lang="en-US" dirty="0"/>
          </a:p>
          <a:p>
            <a:r>
              <a:rPr lang="en-US" dirty="0"/>
              <a:t>2. Navigate to </a:t>
            </a:r>
            <a:r>
              <a:rPr lang="en-US" dirty="0" smtClean="0"/>
              <a:t>Website                   </a:t>
            </a:r>
            <a:r>
              <a:rPr lang="en-US" dirty="0"/>
              <a:t>The automation script opens the Test Automation Practice website</a:t>
            </a:r>
            <a:r>
              <a:rPr lang="en-US" dirty="0" smtClean="0"/>
              <a:t>.</a:t>
            </a:r>
          </a:p>
          <a:p>
            <a:endParaRPr lang="en-US" dirty="0" smtClean="0"/>
          </a:p>
          <a:p>
            <a:r>
              <a:rPr lang="en-US" dirty="0" smtClean="0"/>
              <a:t>3</a:t>
            </a:r>
            <a:r>
              <a:rPr lang="en-US" dirty="0"/>
              <a:t>. Execute Test </a:t>
            </a:r>
            <a:r>
              <a:rPr lang="en-US" dirty="0" smtClean="0"/>
              <a:t>Cases                     TestNG </a:t>
            </a:r>
            <a:r>
              <a:rPr lang="en-US" dirty="0"/>
              <a:t>executes all GUI test cases sequentially</a:t>
            </a:r>
            <a:r>
              <a:rPr lang="en-US" dirty="0" smtClean="0"/>
              <a:t>.</a:t>
            </a:r>
          </a:p>
          <a:p>
            <a:endParaRPr lang="en-US" dirty="0"/>
          </a:p>
          <a:p>
            <a:r>
              <a:rPr lang="en-US" dirty="0"/>
              <a:t>4. Validate Results </a:t>
            </a:r>
            <a:r>
              <a:rPr lang="en-US" dirty="0" smtClean="0"/>
              <a:t>                         Assertions </a:t>
            </a:r>
            <a:r>
              <a:rPr lang="en-US" dirty="0"/>
              <a:t>verify that the actual results match the expected results</a:t>
            </a:r>
            <a:r>
              <a:rPr lang="en-US" dirty="0" smtClean="0"/>
              <a:t>.</a:t>
            </a:r>
          </a:p>
          <a:p>
            <a:endParaRPr lang="en-US" dirty="0"/>
          </a:p>
          <a:p>
            <a:r>
              <a:rPr lang="en-US" dirty="0"/>
              <a:t>5. Capture Screenshots </a:t>
            </a:r>
            <a:r>
              <a:rPr lang="en-US" dirty="0" smtClean="0"/>
              <a:t>               Screenshots </a:t>
            </a:r>
            <a:r>
              <a:rPr lang="en-US" dirty="0"/>
              <a:t>are automatically captured for both passed and failed </a:t>
            </a:r>
            <a:endParaRPr lang="en-US" dirty="0" smtClean="0"/>
          </a:p>
          <a:p>
            <a:r>
              <a:rPr lang="en-US" dirty="0"/>
              <a:t> </a:t>
            </a:r>
            <a:r>
              <a:rPr lang="en-US" dirty="0" smtClean="0"/>
              <a:t>                                                        </a:t>
            </a:r>
            <a:r>
              <a:rPr lang="en-US" sz="2000" dirty="0" smtClean="0">
                <a:latin typeface="Times New Roman" panose="02020603050405020304" pitchFamily="18" charset="0"/>
                <a:cs typeface="Times New Roman" panose="02020603050405020304" pitchFamily="18" charset="0"/>
              </a:rPr>
              <a:t>test cases.                      </a:t>
            </a:r>
            <a:endParaRPr lang="en-US" sz="2000" dirty="0">
              <a:latin typeface="Times New Roman" panose="02020603050405020304" pitchFamily="18" charset="0"/>
              <a:cs typeface="Times New Roman" panose="02020603050405020304" pitchFamily="18" charset="0"/>
            </a:endParaRPr>
          </a:p>
          <a:p>
            <a:r>
              <a:rPr lang="en-US" dirty="0"/>
              <a:t>6. Generate Extent </a:t>
            </a:r>
            <a:r>
              <a:rPr lang="en-US" dirty="0" smtClean="0"/>
              <a:t>Report            </a:t>
            </a:r>
            <a:r>
              <a:rPr lang="en-US" dirty="0"/>
              <a:t>An Extent Report is generated with execution details, test status, </a:t>
            </a:r>
            <a:endParaRPr lang="en-US" dirty="0" smtClean="0"/>
          </a:p>
          <a:p>
            <a:r>
              <a:rPr lang="en-US" dirty="0"/>
              <a:t> </a:t>
            </a:r>
            <a:r>
              <a:rPr lang="en-US" dirty="0" smtClean="0"/>
              <a:t>                                                         </a:t>
            </a:r>
            <a:r>
              <a:rPr lang="en-US" dirty="0"/>
              <a:t>screenshots, and logs.</a:t>
            </a:r>
          </a:p>
          <a:p>
            <a:endParaRPr lang="en-IN" dirty="0"/>
          </a:p>
        </p:txBody>
      </p:sp>
    </p:spTree>
    <p:extLst>
      <p:ext uri="{BB962C8B-B14F-4D97-AF65-F5344CB8AC3E}">
        <p14:creationId xmlns:p14="http://schemas.microsoft.com/office/powerpoint/2010/main" val="2029429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37792" y="344557"/>
            <a:ext cx="6427304" cy="477054"/>
          </a:xfrm>
          <a:prstGeom prst="rect">
            <a:avLst/>
          </a:prstGeom>
          <a:noFill/>
        </p:spPr>
        <p:txBody>
          <a:bodyPr wrap="square" rtlCol="0">
            <a:spAutoFit/>
          </a:bodyPr>
          <a:lstStyle/>
          <a:p>
            <a:r>
              <a:rPr lang="en-US" sz="2500" b="1" dirty="0">
                <a:solidFill>
                  <a:schemeClr val="bg1"/>
                </a:solidFill>
              </a:rPr>
              <a:t>Challenges Faced During the Project</a:t>
            </a:r>
            <a:endParaRPr lang="en-IN" sz="2500" b="1" dirty="0">
              <a:solidFill>
                <a:schemeClr val="bg1"/>
              </a:solidFill>
            </a:endParaRPr>
          </a:p>
        </p:txBody>
      </p:sp>
      <p:sp>
        <p:nvSpPr>
          <p:cNvPr id="8" name="TextBox 7"/>
          <p:cNvSpPr txBox="1"/>
          <p:nvPr/>
        </p:nvSpPr>
        <p:spPr>
          <a:xfrm>
            <a:off x="106018" y="1063706"/>
            <a:ext cx="11290852" cy="5478423"/>
          </a:xfrm>
          <a:prstGeom prst="rect">
            <a:avLst/>
          </a:prstGeom>
          <a:noFill/>
        </p:spPr>
        <p:txBody>
          <a:bodyPr wrap="square" rtlCol="0">
            <a:spAutoFit/>
          </a:bodyPr>
          <a:lstStyle/>
          <a:p>
            <a:pPr marL="457200" indent="-457200">
              <a:buFont typeface="+mj-lt"/>
              <a:buAutoNum type="arabicPeriod"/>
            </a:pPr>
            <a:r>
              <a:rPr lang="en-US" sz="2500" dirty="0"/>
              <a:t>Handling dynamic web elements during execution</a:t>
            </a:r>
            <a:r>
              <a:rPr lang="en-US" sz="2500" dirty="0" smtClean="0"/>
              <a:t>.</a:t>
            </a:r>
          </a:p>
          <a:p>
            <a:pPr marL="457200" indent="-457200">
              <a:lnSpc>
                <a:spcPct val="150000"/>
              </a:lnSpc>
              <a:buFont typeface="+mj-lt"/>
              <a:buAutoNum type="arabicPeriod"/>
            </a:pPr>
            <a:r>
              <a:rPr lang="en-US" sz="2500" dirty="0"/>
              <a:t>Automating multiple date picker controls</a:t>
            </a:r>
            <a:r>
              <a:rPr lang="en-US" sz="2500" dirty="0" smtClean="0"/>
              <a:t>.</a:t>
            </a:r>
          </a:p>
          <a:p>
            <a:pPr marL="457200" indent="-457200">
              <a:lnSpc>
                <a:spcPct val="150000"/>
              </a:lnSpc>
              <a:buFont typeface="+mj-lt"/>
              <a:buAutoNum type="arabicPeriod"/>
            </a:pPr>
            <a:r>
              <a:rPr lang="en-US" sz="2500" dirty="0"/>
              <a:t>Managing Simple, Confirmation, and Prompt alerts</a:t>
            </a:r>
            <a:r>
              <a:rPr lang="en-US" sz="2500" dirty="0" smtClean="0"/>
              <a:t>.</a:t>
            </a:r>
          </a:p>
          <a:p>
            <a:pPr marL="457200" indent="-457200">
              <a:lnSpc>
                <a:spcPct val="150000"/>
              </a:lnSpc>
              <a:buFont typeface="+mj-lt"/>
              <a:buAutoNum type="arabicPeriod"/>
            </a:pPr>
            <a:r>
              <a:rPr lang="en-US" sz="2500" dirty="0"/>
              <a:t>Performing Drag and Drop functionality reliably</a:t>
            </a:r>
            <a:r>
              <a:rPr lang="en-US" sz="2500" dirty="0" smtClean="0"/>
              <a:t>.</a:t>
            </a:r>
          </a:p>
          <a:p>
            <a:pPr marL="457200" indent="-457200">
              <a:lnSpc>
                <a:spcPct val="150000"/>
              </a:lnSpc>
              <a:buFont typeface="+mj-lt"/>
              <a:buAutoNum type="arabicPeriod"/>
            </a:pPr>
            <a:r>
              <a:rPr lang="en-US" sz="2500" dirty="0"/>
              <a:t>Moving the slider to the required position accurately</a:t>
            </a:r>
            <a:r>
              <a:rPr lang="en-US" sz="2500" dirty="0" smtClean="0"/>
              <a:t>.</a:t>
            </a:r>
          </a:p>
          <a:p>
            <a:pPr marL="457200" indent="-457200">
              <a:buFont typeface="+mj-lt"/>
              <a:buAutoNum type="arabicPeriod"/>
            </a:pPr>
            <a:r>
              <a:rPr lang="en-US" sz="2500" dirty="0"/>
              <a:t>Implementing Mouse Hover and Double Click actions</a:t>
            </a:r>
            <a:r>
              <a:rPr lang="en-US" sz="2500" dirty="0" smtClean="0"/>
              <a:t>.</a:t>
            </a:r>
          </a:p>
          <a:p>
            <a:pPr marL="457200" indent="-457200">
              <a:lnSpc>
                <a:spcPct val="150000"/>
              </a:lnSpc>
              <a:buFont typeface="+mj-lt"/>
              <a:buAutoNum type="arabicPeriod"/>
            </a:pPr>
            <a:r>
              <a:rPr lang="en-US" sz="2500" dirty="0"/>
              <a:t>Uploading files using local system file paths</a:t>
            </a:r>
            <a:r>
              <a:rPr lang="en-US" sz="2500" dirty="0" smtClean="0"/>
              <a:t>.</a:t>
            </a:r>
          </a:p>
          <a:p>
            <a:pPr marL="457200" indent="-457200">
              <a:lnSpc>
                <a:spcPct val="150000"/>
              </a:lnSpc>
              <a:buFont typeface="+mj-lt"/>
              <a:buAutoNum type="arabicPeriod"/>
            </a:pPr>
            <a:r>
              <a:rPr lang="en-US" sz="2500" dirty="0"/>
              <a:t>Capturing screenshots during test execution</a:t>
            </a:r>
            <a:r>
              <a:rPr lang="en-US" sz="2500" dirty="0" smtClean="0"/>
              <a:t>.</a:t>
            </a:r>
          </a:p>
          <a:p>
            <a:pPr marL="457200" indent="-457200">
              <a:buFont typeface="+mj-lt"/>
              <a:buAutoNum type="arabicPeriod"/>
            </a:pPr>
            <a:r>
              <a:rPr lang="en-US" sz="2500" dirty="0"/>
              <a:t>Faced Maven dependency and project configuration issues during framework setup</a:t>
            </a:r>
            <a:r>
              <a:rPr lang="en-US" sz="2500" dirty="0" smtClean="0"/>
              <a:t>.</a:t>
            </a:r>
          </a:p>
          <a:p>
            <a:pPr marL="457200" indent="-457200">
              <a:buFont typeface="+mj-lt"/>
              <a:buAutoNum type="arabicPeriod"/>
            </a:pPr>
            <a:r>
              <a:rPr lang="en-US" sz="2500" dirty="0" smtClean="0"/>
              <a:t> Designing </a:t>
            </a:r>
            <a:r>
              <a:rPr lang="en-US" sz="2500" dirty="0"/>
              <a:t>and organizing the </a:t>
            </a:r>
            <a:r>
              <a:rPr lang="en-US" sz="2500" dirty="0" smtClean="0"/>
              <a:t>framework.</a:t>
            </a:r>
            <a:endParaRPr lang="en-IN" sz="2500" dirty="0"/>
          </a:p>
        </p:txBody>
      </p:sp>
    </p:spTree>
    <p:extLst>
      <p:ext uri="{BB962C8B-B14F-4D97-AF65-F5344CB8AC3E}">
        <p14:creationId xmlns:p14="http://schemas.microsoft.com/office/powerpoint/2010/main" val="1373141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11826" y="463826"/>
            <a:ext cx="6467061" cy="477054"/>
          </a:xfrm>
          <a:prstGeom prst="rect">
            <a:avLst/>
          </a:prstGeom>
          <a:noFill/>
        </p:spPr>
        <p:txBody>
          <a:bodyPr wrap="square" rtlCol="0">
            <a:spAutoFit/>
          </a:bodyPr>
          <a:lstStyle/>
          <a:p>
            <a:r>
              <a:rPr lang="en-IN" sz="2500" b="1" dirty="0">
                <a:solidFill>
                  <a:schemeClr val="bg1"/>
                </a:solidFill>
              </a:rPr>
              <a:t>Future Enhancements</a:t>
            </a:r>
          </a:p>
        </p:txBody>
      </p:sp>
      <p:sp>
        <p:nvSpPr>
          <p:cNvPr id="3" name="TextBox 2"/>
          <p:cNvSpPr txBox="1"/>
          <p:nvPr/>
        </p:nvSpPr>
        <p:spPr>
          <a:xfrm>
            <a:off x="172278" y="1524001"/>
            <a:ext cx="12470296" cy="4801314"/>
          </a:xfrm>
          <a:prstGeom prst="rect">
            <a:avLst/>
          </a:prstGeom>
          <a:noFill/>
        </p:spPr>
        <p:txBody>
          <a:bodyPr wrap="square" rtlCol="0">
            <a:spAutoFit/>
          </a:bodyPr>
          <a:lstStyle/>
          <a:p>
            <a:pPr marL="457200" indent="-457200">
              <a:lnSpc>
                <a:spcPct val="150000"/>
              </a:lnSpc>
              <a:buFont typeface="+mj-lt"/>
              <a:buAutoNum type="arabicPeriod"/>
            </a:pPr>
            <a:r>
              <a:rPr lang="en-US" sz="2400" dirty="0"/>
              <a:t>Implement Data-Driven Testing using Excel files</a:t>
            </a:r>
            <a:r>
              <a:rPr lang="en-US" sz="2400" dirty="0" smtClean="0"/>
              <a:t>.</a:t>
            </a:r>
          </a:p>
          <a:p>
            <a:pPr marL="457200" indent="-457200">
              <a:lnSpc>
                <a:spcPct val="150000"/>
              </a:lnSpc>
              <a:buFont typeface="+mj-lt"/>
              <a:buAutoNum type="arabicPeriod"/>
            </a:pPr>
            <a:r>
              <a:rPr lang="en-US" sz="2400" dirty="0"/>
              <a:t>Support Cross-Browser Testing (Chrome, Firefox, Edge</a:t>
            </a:r>
            <a:r>
              <a:rPr lang="en-US" sz="2400" dirty="0" smtClean="0"/>
              <a:t>).</a:t>
            </a:r>
          </a:p>
          <a:p>
            <a:pPr marL="457200" indent="-457200">
              <a:lnSpc>
                <a:spcPct val="150000"/>
              </a:lnSpc>
              <a:buFont typeface="+mj-lt"/>
              <a:buAutoNum type="arabicPeriod"/>
            </a:pPr>
            <a:r>
              <a:rPr lang="en-US" sz="2400" dirty="0"/>
              <a:t>Integrate the framework with Jenkins for automatic test execution</a:t>
            </a:r>
            <a:r>
              <a:rPr lang="en-US" sz="2400" dirty="0" smtClean="0"/>
              <a:t>.</a:t>
            </a:r>
          </a:p>
          <a:p>
            <a:pPr marL="457200" indent="-457200">
              <a:lnSpc>
                <a:spcPct val="150000"/>
              </a:lnSpc>
              <a:buFont typeface="+mj-lt"/>
              <a:buAutoNum type="arabicPeriod"/>
            </a:pPr>
            <a:r>
              <a:rPr lang="en-US" sz="2400" dirty="0"/>
              <a:t>Connect to SQL databases to validate backend data after UI operations. </a:t>
            </a:r>
            <a:endParaRPr lang="en-US" sz="2400" dirty="0" smtClean="0"/>
          </a:p>
          <a:p>
            <a:pPr marL="457200" indent="-457200">
              <a:lnSpc>
                <a:spcPct val="150000"/>
              </a:lnSpc>
              <a:buFont typeface="+mj-lt"/>
              <a:buAutoNum type="arabicPeriod"/>
            </a:pPr>
            <a:r>
              <a:rPr lang="en-US" sz="2400" dirty="0"/>
              <a:t>Execute automation tests inside Docker containers for consistent and isolated test environments</a:t>
            </a:r>
            <a:endParaRPr lang="en-US" sz="2400" dirty="0" smtClean="0"/>
          </a:p>
          <a:p>
            <a:pPr marL="457200" indent="-457200">
              <a:lnSpc>
                <a:spcPct val="150000"/>
              </a:lnSpc>
              <a:buFont typeface="+mj-lt"/>
              <a:buAutoNum type="arabicPeriod"/>
            </a:pPr>
            <a:r>
              <a:rPr lang="en-US" sz="2400" dirty="0"/>
              <a:t>Implement BDD using Cucumber for better readability and collaboration</a:t>
            </a:r>
            <a:r>
              <a:rPr lang="en-US" sz="2400" dirty="0" smtClean="0"/>
              <a:t>.</a:t>
            </a:r>
          </a:p>
          <a:p>
            <a:pPr marL="457200" indent="-457200">
              <a:lnSpc>
                <a:spcPct val="150000"/>
              </a:lnSpc>
              <a:buFont typeface="+mj-lt"/>
              <a:buAutoNum type="arabicPeriod"/>
            </a:pPr>
            <a:r>
              <a:rPr lang="en-US" sz="2400" dirty="0"/>
              <a:t>Execute tests in Parallel to reduce execution time.</a:t>
            </a:r>
          </a:p>
          <a:p>
            <a:endParaRPr lang="en-IN" dirty="0"/>
          </a:p>
        </p:txBody>
      </p:sp>
    </p:spTree>
    <p:extLst>
      <p:ext uri="{BB962C8B-B14F-4D97-AF65-F5344CB8AC3E}">
        <p14:creationId xmlns:p14="http://schemas.microsoft.com/office/powerpoint/2010/main" val="31707859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26227" y="556591"/>
            <a:ext cx="3896139" cy="630942"/>
          </a:xfrm>
          <a:prstGeom prst="rect">
            <a:avLst/>
          </a:prstGeom>
          <a:noFill/>
        </p:spPr>
        <p:txBody>
          <a:bodyPr wrap="square" rtlCol="0">
            <a:spAutoFit/>
          </a:bodyPr>
          <a:lstStyle/>
          <a:p>
            <a:r>
              <a:rPr lang="en-IN" sz="3500" b="1" dirty="0">
                <a:solidFill>
                  <a:schemeClr val="bg1"/>
                </a:solidFill>
              </a:rPr>
              <a:t>Conclusion</a:t>
            </a:r>
          </a:p>
        </p:txBody>
      </p:sp>
      <p:sp>
        <p:nvSpPr>
          <p:cNvPr id="3" name="TextBox 2"/>
          <p:cNvSpPr txBox="1"/>
          <p:nvPr/>
        </p:nvSpPr>
        <p:spPr>
          <a:xfrm>
            <a:off x="742122" y="1709530"/>
            <a:ext cx="11078818" cy="3416320"/>
          </a:xfrm>
          <a:prstGeom prst="rect">
            <a:avLst/>
          </a:prstGeom>
          <a:noFill/>
        </p:spPr>
        <p:txBody>
          <a:bodyPr wrap="square" rtlCol="0">
            <a:spAutoFit/>
          </a:bodyPr>
          <a:lstStyle/>
          <a:p>
            <a:r>
              <a:rPr lang="en-US" sz="2400" dirty="0"/>
              <a:t>This project successfully automated the GUI elements of a web application using </a:t>
            </a:r>
            <a:r>
              <a:rPr lang="en-US" sz="2400" b="1" dirty="0"/>
              <a:t>Selenium WebDriver</a:t>
            </a:r>
            <a:r>
              <a:rPr lang="en-US" sz="2400" dirty="0"/>
              <a:t>, </a:t>
            </a:r>
            <a:r>
              <a:rPr lang="en-US" sz="2400" b="1" dirty="0"/>
              <a:t>Java</a:t>
            </a:r>
            <a:r>
              <a:rPr lang="en-US" sz="2400" dirty="0"/>
              <a:t>, </a:t>
            </a:r>
            <a:r>
              <a:rPr lang="en-US" sz="2400" b="1" dirty="0"/>
              <a:t>TestNG</a:t>
            </a:r>
            <a:r>
              <a:rPr lang="en-US" sz="2400" dirty="0"/>
              <a:t>, and the </a:t>
            </a:r>
            <a:r>
              <a:rPr lang="en-US" sz="2400" b="1" dirty="0"/>
              <a:t>Page Object Model (POM)</a:t>
            </a:r>
            <a:r>
              <a:rPr lang="en-US" sz="2400" dirty="0"/>
              <a:t>. The framework provides organized, reusable, and maintainable test scripts. Test execution was validated using assertions, and reports were generated to track the results. Version control was managed with GitHub, making collaboration and code management easier. Overall, the project demonstrates how automation testing improves software quality, reduces manual effort, saves time, and ensures reliable application testing.</a:t>
            </a:r>
            <a:endParaRPr lang="en-IN" sz="2400" dirty="0"/>
          </a:p>
        </p:txBody>
      </p:sp>
    </p:spTree>
    <p:extLst>
      <p:ext uri="{BB962C8B-B14F-4D97-AF65-F5344CB8AC3E}">
        <p14:creationId xmlns:p14="http://schemas.microsoft.com/office/powerpoint/2010/main" val="23825273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10679" y="2332381"/>
            <a:ext cx="8984973" cy="1569660"/>
          </a:xfrm>
          <a:prstGeom prst="rect">
            <a:avLst/>
          </a:prstGeom>
          <a:noFill/>
        </p:spPr>
        <p:txBody>
          <a:bodyPr wrap="square" rtlCol="0">
            <a:spAutoFit/>
          </a:bodyPr>
          <a:lstStyle/>
          <a:p>
            <a:r>
              <a:rPr lang="en-US" sz="9600" b="1" dirty="0" smtClean="0">
                <a:solidFill>
                  <a:srgbClr val="00B050"/>
                </a:solidFill>
              </a:rPr>
              <a:t>Thank You</a:t>
            </a:r>
            <a:endParaRPr lang="en-IN" sz="9600" b="1" dirty="0">
              <a:solidFill>
                <a:srgbClr val="00B050"/>
              </a:solidFill>
            </a:endParaRPr>
          </a:p>
        </p:txBody>
      </p:sp>
    </p:spTree>
    <p:extLst>
      <p:ext uri="{BB962C8B-B14F-4D97-AF65-F5344CB8AC3E}">
        <p14:creationId xmlns:p14="http://schemas.microsoft.com/office/powerpoint/2010/main" val="126658025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700</TotalTime>
  <Words>1059</Words>
  <Application>Microsoft Office PowerPoint</Application>
  <PresentationFormat>Widescreen</PresentationFormat>
  <Paragraphs>183</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Century Gothic</vt:lpstr>
      <vt:lpstr>Times New Roman</vt:lpstr>
      <vt:lpstr>Wingdings</vt:lpstr>
      <vt:lpstr>Wingdings 3</vt:lpstr>
      <vt:lpstr>Ion</vt:lpstr>
      <vt:lpstr> </vt:lpstr>
      <vt:lpstr>PowerPoint Presentation</vt:lpstr>
      <vt:lpstr>                      Introduction</vt:lpstr>
      <vt:lpstr>Objective</vt:lpstr>
      <vt:lpstr>Tools &amp; Technologies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Yatish</dc:creator>
  <cp:lastModifiedBy>Yatish</cp:lastModifiedBy>
  <cp:revision>47</cp:revision>
  <dcterms:created xsi:type="dcterms:W3CDTF">2026-06-11T04:33:11Z</dcterms:created>
  <dcterms:modified xsi:type="dcterms:W3CDTF">2026-06-15T16:23:56Z</dcterms:modified>
</cp:coreProperties>
</file>